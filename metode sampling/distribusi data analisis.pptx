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Proxima Nova Bold" charset="1" panose="02000506030000020004"/>
      <p:regular r:id="rId14"/>
    </p:embeddedFont>
    <p:embeddedFont>
      <p:font typeface="Roboto Bold" charset="1" panose="02000000000000000000"/>
      <p:regular r:id="rId15"/>
    </p:embeddedFont>
    <p:embeddedFont>
      <p:font typeface="Proxima Nova Heavy" charset="1" panose="020005060300000200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5.png" Type="http://schemas.openxmlformats.org/officeDocument/2006/relationships/image"/><Relationship Id="rId8" Target="https://docs.google.com/spreadsheets/d/1txUOD6x0Rg0bb19LDlFTOyB7W_m80moe/edit?gid=1390111256#gid=1390111256"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jpe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31.png" Type="http://schemas.openxmlformats.org/officeDocument/2006/relationships/image"/><Relationship Id="rId13" Target="../media/image32.svg" Type="http://schemas.openxmlformats.org/officeDocument/2006/relationships/image"/><Relationship Id="rId14" Target="../media/image33.png" Type="http://schemas.openxmlformats.org/officeDocument/2006/relationships/image"/><Relationship Id="rId15" Target="../media/image34.pn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2372A"/>
        </a:solidFill>
      </p:bgPr>
    </p:bg>
    <p:spTree>
      <p:nvGrpSpPr>
        <p:cNvPr id="1" name=""/>
        <p:cNvGrpSpPr/>
        <p:nvPr/>
      </p:nvGrpSpPr>
      <p:grpSpPr>
        <a:xfrm>
          <a:off x="0" y="0"/>
          <a:ext cx="0" cy="0"/>
          <a:chOff x="0" y="0"/>
          <a:chExt cx="0" cy="0"/>
        </a:xfrm>
      </p:grpSpPr>
      <p:sp>
        <p:nvSpPr>
          <p:cNvPr name="Freeform 2" id="2"/>
          <p:cNvSpPr/>
          <p:nvPr/>
        </p:nvSpPr>
        <p:spPr>
          <a:xfrm flipH="false" flipV="false" rot="-237404">
            <a:off x="-1831888" y="7081057"/>
            <a:ext cx="22395435" cy="3863213"/>
          </a:xfrm>
          <a:custGeom>
            <a:avLst/>
            <a:gdLst/>
            <a:ahLst/>
            <a:cxnLst/>
            <a:rect r="r" b="b" t="t" l="l"/>
            <a:pathLst>
              <a:path h="3863213" w="22395435">
                <a:moveTo>
                  <a:pt x="0" y="0"/>
                </a:moveTo>
                <a:lnTo>
                  <a:pt x="22395435" y="0"/>
                </a:lnTo>
                <a:lnTo>
                  <a:pt x="22395435" y="3863212"/>
                </a:lnTo>
                <a:lnTo>
                  <a:pt x="0" y="3863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88065" y="6795333"/>
            <a:ext cx="9769080" cy="1021946"/>
            <a:chOff x="0" y="0"/>
            <a:chExt cx="2572926" cy="269155"/>
          </a:xfrm>
        </p:grpSpPr>
        <p:sp>
          <p:nvSpPr>
            <p:cNvPr name="Freeform 4" id="4"/>
            <p:cNvSpPr/>
            <p:nvPr/>
          </p:nvSpPr>
          <p:spPr>
            <a:xfrm flipH="false" flipV="false" rot="0">
              <a:off x="0" y="0"/>
              <a:ext cx="2572926" cy="269155"/>
            </a:xfrm>
            <a:custGeom>
              <a:avLst/>
              <a:gdLst/>
              <a:ahLst/>
              <a:cxnLst/>
              <a:rect r="r" b="b" t="t" l="l"/>
              <a:pathLst>
                <a:path h="269155" w="2572926">
                  <a:moveTo>
                    <a:pt x="40417" y="0"/>
                  </a:moveTo>
                  <a:lnTo>
                    <a:pt x="2532509" y="0"/>
                  </a:lnTo>
                  <a:cubicBezTo>
                    <a:pt x="2554831" y="0"/>
                    <a:pt x="2572926" y="18095"/>
                    <a:pt x="2572926" y="40417"/>
                  </a:cubicBezTo>
                  <a:lnTo>
                    <a:pt x="2572926" y="228737"/>
                  </a:lnTo>
                  <a:cubicBezTo>
                    <a:pt x="2572926" y="251059"/>
                    <a:pt x="2554831" y="269155"/>
                    <a:pt x="2532509" y="269155"/>
                  </a:cubicBezTo>
                  <a:lnTo>
                    <a:pt x="40417" y="269155"/>
                  </a:lnTo>
                  <a:cubicBezTo>
                    <a:pt x="18095" y="269155"/>
                    <a:pt x="0" y="251059"/>
                    <a:pt x="0" y="228737"/>
                  </a:cubicBezTo>
                  <a:lnTo>
                    <a:pt x="0" y="40417"/>
                  </a:lnTo>
                  <a:cubicBezTo>
                    <a:pt x="0" y="18095"/>
                    <a:pt x="18095" y="0"/>
                    <a:pt x="40417" y="0"/>
                  </a:cubicBezTo>
                  <a:close/>
                </a:path>
              </a:pathLst>
            </a:custGeom>
            <a:solidFill>
              <a:srgbClr val="98D49A"/>
            </a:solidFill>
          </p:spPr>
        </p:sp>
        <p:sp>
          <p:nvSpPr>
            <p:cNvPr name="TextBox 5" id="5"/>
            <p:cNvSpPr txBox="true"/>
            <p:nvPr/>
          </p:nvSpPr>
          <p:spPr>
            <a:xfrm>
              <a:off x="0" y="-47625"/>
              <a:ext cx="2572926" cy="31678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820934" y="2741338"/>
            <a:ext cx="9438366" cy="5152469"/>
            <a:chOff x="0" y="0"/>
            <a:chExt cx="733308" cy="400318"/>
          </a:xfrm>
        </p:grpSpPr>
        <p:sp>
          <p:nvSpPr>
            <p:cNvPr name="Freeform 7" id="7"/>
            <p:cNvSpPr/>
            <p:nvPr/>
          </p:nvSpPr>
          <p:spPr>
            <a:xfrm flipH="false" flipV="false" rot="0">
              <a:off x="0" y="0"/>
              <a:ext cx="733308" cy="400318"/>
            </a:xfrm>
            <a:custGeom>
              <a:avLst/>
              <a:gdLst/>
              <a:ahLst/>
              <a:cxnLst/>
              <a:rect r="r" b="b" t="t" l="l"/>
              <a:pathLst>
                <a:path h="400318" w="733308">
                  <a:moveTo>
                    <a:pt x="530108" y="0"/>
                  </a:moveTo>
                  <a:cubicBezTo>
                    <a:pt x="642338" y="0"/>
                    <a:pt x="733308" y="89609"/>
                    <a:pt x="733308" y="200159"/>
                  </a:cubicBezTo>
                  <a:cubicBezTo>
                    <a:pt x="733308" y="310709"/>
                    <a:pt x="642338" y="400318"/>
                    <a:pt x="530108" y="400318"/>
                  </a:cubicBezTo>
                  <a:lnTo>
                    <a:pt x="203200" y="400318"/>
                  </a:lnTo>
                  <a:cubicBezTo>
                    <a:pt x="90970" y="400318"/>
                    <a:pt x="0" y="310709"/>
                    <a:pt x="0" y="200159"/>
                  </a:cubicBezTo>
                  <a:cubicBezTo>
                    <a:pt x="0" y="89609"/>
                    <a:pt x="90970" y="0"/>
                    <a:pt x="203200" y="0"/>
                  </a:cubicBezTo>
                  <a:lnTo>
                    <a:pt x="530108" y="0"/>
                  </a:lnTo>
                </a:path>
              </a:pathLst>
            </a:custGeom>
            <a:blipFill>
              <a:blip r:embed="rId4"/>
              <a:stretch>
                <a:fillRect l="0" t="-9533" r="0" b="-9533"/>
              </a:stretch>
            </a:blipFill>
            <a:ln w="285750" cap="sq">
              <a:solidFill>
                <a:srgbClr val="FFFFFF"/>
              </a:solidFill>
              <a:prstDash val="solid"/>
              <a:miter/>
            </a:ln>
          </p:spPr>
        </p:sp>
      </p:grpSp>
      <p:sp>
        <p:nvSpPr>
          <p:cNvPr name="Freeform 8" id="8"/>
          <p:cNvSpPr/>
          <p:nvPr/>
        </p:nvSpPr>
        <p:spPr>
          <a:xfrm flipH="false" flipV="false" rot="0">
            <a:off x="15978371" y="1914262"/>
            <a:ext cx="388926" cy="388926"/>
          </a:xfrm>
          <a:custGeom>
            <a:avLst/>
            <a:gdLst/>
            <a:ahLst/>
            <a:cxnLst/>
            <a:rect r="r" b="b" t="t" l="l"/>
            <a:pathLst>
              <a:path h="388926" w="388926">
                <a:moveTo>
                  <a:pt x="0" y="0"/>
                </a:moveTo>
                <a:lnTo>
                  <a:pt x="388927" y="0"/>
                </a:lnTo>
                <a:lnTo>
                  <a:pt x="388927" y="388926"/>
                </a:lnTo>
                <a:lnTo>
                  <a:pt x="0" y="3889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true" flipV="false" rot="0">
            <a:off x="15860960" y="-869213"/>
            <a:ext cx="2525632" cy="2525632"/>
          </a:xfrm>
          <a:custGeom>
            <a:avLst/>
            <a:gdLst/>
            <a:ahLst/>
            <a:cxnLst/>
            <a:rect r="r" b="b" t="t" l="l"/>
            <a:pathLst>
              <a:path h="2525632" w="2525632">
                <a:moveTo>
                  <a:pt x="2525632" y="0"/>
                </a:moveTo>
                <a:lnTo>
                  <a:pt x="0" y="0"/>
                </a:lnTo>
                <a:lnTo>
                  <a:pt x="0" y="2525632"/>
                </a:lnTo>
                <a:lnTo>
                  <a:pt x="2525632" y="2525632"/>
                </a:lnTo>
                <a:lnTo>
                  <a:pt x="2525632"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5400000">
            <a:off x="11334405" y="1368731"/>
            <a:ext cx="231143" cy="1503369"/>
          </a:xfrm>
          <a:custGeom>
            <a:avLst/>
            <a:gdLst/>
            <a:ahLst/>
            <a:cxnLst/>
            <a:rect r="r" b="b" t="t" l="l"/>
            <a:pathLst>
              <a:path h="1503369" w="231143">
                <a:moveTo>
                  <a:pt x="0" y="0"/>
                </a:moveTo>
                <a:lnTo>
                  <a:pt x="231143" y="0"/>
                </a:lnTo>
                <a:lnTo>
                  <a:pt x="231143" y="1503369"/>
                </a:lnTo>
                <a:lnTo>
                  <a:pt x="0" y="150336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1388065" y="2865696"/>
            <a:ext cx="6375720" cy="3599686"/>
          </a:xfrm>
          <a:prstGeom prst="rect">
            <a:avLst/>
          </a:prstGeom>
        </p:spPr>
        <p:txBody>
          <a:bodyPr anchor="t" rtlCol="false" tIns="0" lIns="0" bIns="0" rIns="0">
            <a:spAutoFit/>
          </a:bodyPr>
          <a:lstStyle/>
          <a:p>
            <a:pPr algn="l">
              <a:lnSpc>
                <a:spcPts val="9395"/>
              </a:lnSpc>
            </a:pPr>
            <a:r>
              <a:rPr lang="en-US" sz="8699" b="true">
                <a:solidFill>
                  <a:srgbClr val="FFFFFF"/>
                </a:solidFill>
                <a:latin typeface="Proxima Nova Bold"/>
                <a:ea typeface="Proxima Nova Bold"/>
                <a:cs typeface="Proxima Nova Bold"/>
                <a:sym typeface="Proxima Nova Bold"/>
              </a:rPr>
              <a:t>DISTRIBUSI DATA ANALISIS</a:t>
            </a:r>
          </a:p>
        </p:txBody>
      </p:sp>
      <p:sp>
        <p:nvSpPr>
          <p:cNvPr name="Freeform 12" id="12"/>
          <p:cNvSpPr/>
          <p:nvPr/>
        </p:nvSpPr>
        <p:spPr>
          <a:xfrm flipH="false" flipV="false" rot="0">
            <a:off x="5627791" y="4247722"/>
            <a:ext cx="1008082" cy="730859"/>
          </a:xfrm>
          <a:custGeom>
            <a:avLst/>
            <a:gdLst/>
            <a:ahLst/>
            <a:cxnLst/>
            <a:rect r="r" b="b" t="t" l="l"/>
            <a:pathLst>
              <a:path h="730859" w="1008082">
                <a:moveTo>
                  <a:pt x="0" y="0"/>
                </a:moveTo>
                <a:lnTo>
                  <a:pt x="1008082" y="0"/>
                </a:lnTo>
                <a:lnTo>
                  <a:pt x="1008082" y="730859"/>
                </a:lnTo>
                <a:lnTo>
                  <a:pt x="0" y="73085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5400000">
            <a:off x="619753" y="689639"/>
            <a:ext cx="939258" cy="2480720"/>
          </a:xfrm>
          <a:custGeom>
            <a:avLst/>
            <a:gdLst/>
            <a:ahLst/>
            <a:cxnLst/>
            <a:rect r="r" b="b" t="t" l="l"/>
            <a:pathLst>
              <a:path h="2480720" w="939258">
                <a:moveTo>
                  <a:pt x="0" y="0"/>
                </a:moveTo>
                <a:lnTo>
                  <a:pt x="939258" y="0"/>
                </a:lnTo>
                <a:lnTo>
                  <a:pt x="939258" y="2480720"/>
                </a:lnTo>
                <a:lnTo>
                  <a:pt x="0" y="2480720"/>
                </a:lnTo>
                <a:lnTo>
                  <a:pt x="0" y="0"/>
                </a:lnTo>
                <a:close/>
              </a:path>
            </a:pathLst>
          </a:custGeom>
          <a:blipFill>
            <a:blip r:embed="rId13">
              <a:extLst>
                <a:ext uri="{96DAC541-7B7A-43D3-8B79-37D633B846F1}">
                  <asvg:svgBlip xmlns:asvg="http://schemas.microsoft.com/office/drawing/2016/SVG/main" r:embed="rId14"/>
                </a:ext>
              </a:extLst>
            </a:blip>
            <a:stretch>
              <a:fillRect l="0" t="-467" r="-32674" b="0"/>
            </a:stretch>
          </a:blipFill>
        </p:spPr>
      </p:sp>
      <p:sp>
        <p:nvSpPr>
          <p:cNvPr name="TextBox 14" id="14"/>
          <p:cNvSpPr txBox="true"/>
          <p:nvPr/>
        </p:nvSpPr>
        <p:spPr>
          <a:xfrm rot="0">
            <a:off x="1708235" y="6981504"/>
            <a:ext cx="6112699" cy="573405"/>
          </a:xfrm>
          <a:prstGeom prst="rect">
            <a:avLst/>
          </a:prstGeom>
        </p:spPr>
        <p:txBody>
          <a:bodyPr anchor="t" rtlCol="false" tIns="0" lIns="0" bIns="0" rIns="0">
            <a:spAutoFit/>
          </a:bodyPr>
          <a:lstStyle/>
          <a:p>
            <a:pPr algn="l">
              <a:lnSpc>
                <a:spcPts val="4619"/>
              </a:lnSpc>
            </a:pPr>
            <a:r>
              <a:rPr lang="en-US" sz="3299" b="true">
                <a:solidFill>
                  <a:srgbClr val="000000"/>
                </a:solidFill>
                <a:latin typeface="Roboto Bold"/>
                <a:ea typeface="Roboto Bold"/>
                <a:cs typeface="Roboto Bold"/>
                <a:sym typeface="Roboto Bold"/>
              </a:rPr>
              <a:t>metode statistika</a:t>
            </a:r>
          </a:p>
        </p:txBody>
      </p:sp>
      <p:sp>
        <p:nvSpPr>
          <p:cNvPr name="TextBox 15" id="15"/>
          <p:cNvSpPr txBox="true"/>
          <p:nvPr/>
        </p:nvSpPr>
        <p:spPr>
          <a:xfrm rot="0">
            <a:off x="1519575" y="7817607"/>
            <a:ext cx="6112699" cy="573405"/>
          </a:xfrm>
          <a:prstGeom prst="rect">
            <a:avLst/>
          </a:prstGeom>
        </p:spPr>
        <p:txBody>
          <a:bodyPr anchor="t" rtlCol="false" tIns="0" lIns="0" bIns="0" rIns="0">
            <a:spAutoFit/>
          </a:bodyPr>
          <a:lstStyle/>
          <a:p>
            <a:pPr algn="l">
              <a:lnSpc>
                <a:spcPts val="4619"/>
              </a:lnSpc>
            </a:pPr>
            <a:r>
              <a:rPr lang="en-US" sz="3299" b="true">
                <a:solidFill>
                  <a:srgbClr val="FFFFFF"/>
                </a:solidFill>
                <a:latin typeface="Roboto Bold"/>
                <a:ea typeface="Roboto Bold"/>
                <a:cs typeface="Roboto Bold"/>
                <a:sym typeface="Roboto Bold"/>
              </a:rPr>
              <a:t>moh. ghufron 25-196</a:t>
            </a:r>
          </a:p>
        </p:txBody>
      </p:sp>
      <p:sp>
        <p:nvSpPr>
          <p:cNvPr name="TextBox 16" id="16"/>
          <p:cNvSpPr txBox="true"/>
          <p:nvPr/>
        </p:nvSpPr>
        <p:spPr>
          <a:xfrm rot="0">
            <a:off x="11922460" y="7893807"/>
            <a:ext cx="6112699" cy="573405"/>
          </a:xfrm>
          <a:prstGeom prst="rect">
            <a:avLst/>
          </a:prstGeom>
        </p:spPr>
        <p:txBody>
          <a:bodyPr anchor="t" rtlCol="false" tIns="0" lIns="0" bIns="0" rIns="0">
            <a:spAutoFit/>
          </a:bodyPr>
          <a:lstStyle/>
          <a:p>
            <a:pPr algn="l">
              <a:lnSpc>
                <a:spcPts val="4619"/>
              </a:lnSpc>
            </a:pPr>
            <a:r>
              <a:rPr lang="en-US" sz="3299" b="true">
                <a:solidFill>
                  <a:srgbClr val="FFFFFF"/>
                </a:solidFill>
                <a:latin typeface="Roboto Bold"/>
                <a:ea typeface="Roboto Bold"/>
                <a:cs typeface="Roboto Bold"/>
                <a:sym typeface="Roboto Bold"/>
              </a:rPr>
              <a:t>ario yoga ditiya 25-077</a:t>
            </a:r>
          </a:p>
        </p:txBody>
      </p:sp>
      <p:sp>
        <p:nvSpPr>
          <p:cNvPr name="TextBox 17" id="17"/>
          <p:cNvSpPr txBox="true"/>
          <p:nvPr/>
        </p:nvSpPr>
        <p:spPr>
          <a:xfrm rot="0">
            <a:off x="6635873" y="7893807"/>
            <a:ext cx="6112699" cy="573405"/>
          </a:xfrm>
          <a:prstGeom prst="rect">
            <a:avLst/>
          </a:prstGeom>
        </p:spPr>
        <p:txBody>
          <a:bodyPr anchor="t" rtlCol="false" tIns="0" lIns="0" bIns="0" rIns="0">
            <a:spAutoFit/>
          </a:bodyPr>
          <a:lstStyle/>
          <a:p>
            <a:pPr algn="l">
              <a:lnSpc>
                <a:spcPts val="4619"/>
              </a:lnSpc>
            </a:pPr>
            <a:r>
              <a:rPr lang="en-US" sz="3299" b="true">
                <a:solidFill>
                  <a:srgbClr val="FFFFFF"/>
                </a:solidFill>
                <a:latin typeface="Roboto Bold"/>
                <a:ea typeface="Roboto Bold"/>
                <a:cs typeface="Roboto Bold"/>
                <a:sym typeface="Roboto Bold"/>
              </a:rPr>
              <a:t>abdurrohman 25-133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2372A"/>
        </a:solidFill>
      </p:bgPr>
    </p:bg>
    <p:spTree>
      <p:nvGrpSpPr>
        <p:cNvPr id="1" name=""/>
        <p:cNvGrpSpPr/>
        <p:nvPr/>
      </p:nvGrpSpPr>
      <p:grpSpPr>
        <a:xfrm>
          <a:off x="0" y="0"/>
          <a:ext cx="0" cy="0"/>
          <a:chOff x="0" y="0"/>
          <a:chExt cx="0" cy="0"/>
        </a:xfrm>
      </p:grpSpPr>
      <p:grpSp>
        <p:nvGrpSpPr>
          <p:cNvPr name="Group 2" id="2"/>
          <p:cNvGrpSpPr/>
          <p:nvPr/>
        </p:nvGrpSpPr>
        <p:grpSpPr>
          <a:xfrm rot="0">
            <a:off x="-514350" y="9361839"/>
            <a:ext cx="19128220" cy="1157832"/>
            <a:chOff x="0" y="0"/>
            <a:chExt cx="5037885" cy="304943"/>
          </a:xfrm>
        </p:grpSpPr>
        <p:sp>
          <p:nvSpPr>
            <p:cNvPr name="Freeform 3" id="3"/>
            <p:cNvSpPr/>
            <p:nvPr/>
          </p:nvSpPr>
          <p:spPr>
            <a:xfrm flipH="false" flipV="false" rot="0">
              <a:off x="0" y="0"/>
              <a:ext cx="5037885" cy="304943"/>
            </a:xfrm>
            <a:custGeom>
              <a:avLst/>
              <a:gdLst/>
              <a:ahLst/>
              <a:cxnLst/>
              <a:rect r="r" b="b" t="t" l="l"/>
              <a:pathLst>
                <a:path h="304943" w="5037885">
                  <a:moveTo>
                    <a:pt x="0" y="0"/>
                  </a:moveTo>
                  <a:lnTo>
                    <a:pt x="5037885" y="0"/>
                  </a:lnTo>
                  <a:lnTo>
                    <a:pt x="5037885" y="304943"/>
                  </a:lnTo>
                  <a:lnTo>
                    <a:pt x="0" y="304943"/>
                  </a:lnTo>
                  <a:close/>
                </a:path>
              </a:pathLst>
            </a:custGeom>
            <a:solidFill>
              <a:srgbClr val="FFFFFF"/>
            </a:solidFill>
          </p:spPr>
        </p:sp>
        <p:sp>
          <p:nvSpPr>
            <p:cNvPr name="TextBox 4" id="4"/>
            <p:cNvSpPr txBox="true"/>
            <p:nvPr/>
          </p:nvSpPr>
          <p:spPr>
            <a:xfrm>
              <a:off x="0" y="-57150"/>
              <a:ext cx="5037885" cy="362093"/>
            </a:xfrm>
            <a:prstGeom prst="rect">
              <a:avLst/>
            </a:prstGeom>
          </p:spPr>
          <p:txBody>
            <a:bodyPr anchor="ctr" rtlCol="false" tIns="50800" lIns="50800" bIns="50800" rIns="50800"/>
            <a:lstStyle/>
            <a:p>
              <a:pPr algn="ctr">
                <a:lnSpc>
                  <a:spcPts val="3220"/>
                </a:lnSpc>
              </a:pPr>
            </a:p>
          </p:txBody>
        </p:sp>
      </p:grpSp>
      <p:grpSp>
        <p:nvGrpSpPr>
          <p:cNvPr name="Group 5" id="5"/>
          <p:cNvGrpSpPr/>
          <p:nvPr/>
        </p:nvGrpSpPr>
        <p:grpSpPr>
          <a:xfrm rot="0">
            <a:off x="-5326610" y="-133548"/>
            <a:ext cx="10653219" cy="106532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3294" t="0" r="-76705" b="0"/>
              </a:stretch>
            </a:blipFill>
            <a:ln w="381000" cap="sq">
              <a:solidFill>
                <a:srgbClr val="98D49A"/>
              </a:solidFill>
              <a:prstDash val="solid"/>
              <a:miter/>
            </a:ln>
          </p:spPr>
        </p:sp>
      </p:grpSp>
      <p:sp>
        <p:nvSpPr>
          <p:cNvPr name="Freeform 7" id="7"/>
          <p:cNvSpPr/>
          <p:nvPr/>
        </p:nvSpPr>
        <p:spPr>
          <a:xfrm flipH="true" flipV="false" rot="0">
            <a:off x="16045677" y="-831338"/>
            <a:ext cx="2242323" cy="2242323"/>
          </a:xfrm>
          <a:custGeom>
            <a:avLst/>
            <a:gdLst/>
            <a:ahLst/>
            <a:cxnLst/>
            <a:rect r="r" b="b" t="t" l="l"/>
            <a:pathLst>
              <a:path h="2242323" w="2242323">
                <a:moveTo>
                  <a:pt x="2242323" y="0"/>
                </a:moveTo>
                <a:lnTo>
                  <a:pt x="0" y="0"/>
                </a:lnTo>
                <a:lnTo>
                  <a:pt x="0" y="2242322"/>
                </a:lnTo>
                <a:lnTo>
                  <a:pt x="2242323" y="2242322"/>
                </a:lnTo>
                <a:lnTo>
                  <a:pt x="224232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6232217" y="1759227"/>
            <a:ext cx="939258" cy="2480720"/>
          </a:xfrm>
          <a:custGeom>
            <a:avLst/>
            <a:gdLst/>
            <a:ahLst/>
            <a:cxnLst/>
            <a:rect r="r" b="b" t="t" l="l"/>
            <a:pathLst>
              <a:path h="2480720" w="939258">
                <a:moveTo>
                  <a:pt x="0" y="0"/>
                </a:moveTo>
                <a:lnTo>
                  <a:pt x="939258" y="0"/>
                </a:lnTo>
                <a:lnTo>
                  <a:pt x="939258" y="2480720"/>
                </a:lnTo>
                <a:lnTo>
                  <a:pt x="0" y="2480720"/>
                </a:lnTo>
                <a:lnTo>
                  <a:pt x="0" y="0"/>
                </a:lnTo>
                <a:close/>
              </a:path>
            </a:pathLst>
          </a:custGeom>
          <a:blipFill>
            <a:blip r:embed="rId5">
              <a:extLst>
                <a:ext uri="{96DAC541-7B7A-43D3-8B79-37D633B846F1}">
                  <asvg:svgBlip xmlns:asvg="http://schemas.microsoft.com/office/drawing/2016/SVG/main" r:embed="rId6"/>
                </a:ext>
              </a:extLst>
            </a:blip>
            <a:stretch>
              <a:fillRect l="0" t="-467" r="-32674" b="0"/>
            </a:stretch>
          </a:blipFill>
        </p:spPr>
      </p:sp>
      <p:grpSp>
        <p:nvGrpSpPr>
          <p:cNvPr name="Group 9" id="9"/>
          <p:cNvGrpSpPr/>
          <p:nvPr/>
        </p:nvGrpSpPr>
        <p:grpSpPr>
          <a:xfrm rot="0">
            <a:off x="7736161" y="2999587"/>
            <a:ext cx="9812724" cy="6362252"/>
            <a:chOff x="0" y="0"/>
            <a:chExt cx="1039043" cy="673682"/>
          </a:xfrm>
        </p:grpSpPr>
        <p:sp>
          <p:nvSpPr>
            <p:cNvPr name="Freeform 10" id="10"/>
            <p:cNvSpPr/>
            <p:nvPr/>
          </p:nvSpPr>
          <p:spPr>
            <a:xfrm flipH="false" flipV="false" rot="0">
              <a:off x="0" y="0"/>
              <a:ext cx="1039043" cy="673682"/>
            </a:xfrm>
            <a:custGeom>
              <a:avLst/>
              <a:gdLst/>
              <a:ahLst/>
              <a:cxnLst/>
              <a:rect r="r" b="b" t="t" l="l"/>
              <a:pathLst>
                <a:path h="673682" w="1039043">
                  <a:moveTo>
                    <a:pt x="0" y="0"/>
                  </a:moveTo>
                  <a:lnTo>
                    <a:pt x="1039043" y="0"/>
                  </a:lnTo>
                  <a:lnTo>
                    <a:pt x="1039043" y="673682"/>
                  </a:lnTo>
                  <a:lnTo>
                    <a:pt x="0" y="673682"/>
                  </a:lnTo>
                  <a:close/>
                </a:path>
              </a:pathLst>
            </a:custGeom>
            <a:blipFill>
              <a:blip r:embed="rId7"/>
              <a:stretch>
                <a:fillRect l="0" t="-10325" r="-25161" b="-10325"/>
              </a:stretch>
            </a:blipFill>
          </p:spPr>
        </p:sp>
      </p:grpSp>
      <p:sp>
        <p:nvSpPr>
          <p:cNvPr name="TextBox 11" id="11"/>
          <p:cNvSpPr txBox="true"/>
          <p:nvPr/>
        </p:nvSpPr>
        <p:spPr>
          <a:xfrm rot="0">
            <a:off x="8253575" y="1844952"/>
            <a:ext cx="9203407" cy="1057277"/>
          </a:xfrm>
          <a:prstGeom prst="rect">
            <a:avLst/>
          </a:prstGeom>
        </p:spPr>
        <p:txBody>
          <a:bodyPr anchor="t" rtlCol="false" tIns="0" lIns="0" bIns="0" rIns="0">
            <a:spAutoFit/>
          </a:bodyPr>
          <a:lstStyle/>
          <a:p>
            <a:pPr algn="l">
              <a:lnSpc>
                <a:spcPts val="8100"/>
              </a:lnSpc>
            </a:pPr>
            <a:r>
              <a:rPr lang="en-US" sz="7500" b="true">
                <a:solidFill>
                  <a:srgbClr val="FFFFFF"/>
                </a:solidFill>
                <a:latin typeface="Proxima Nova Heavy"/>
                <a:ea typeface="Proxima Nova Heavy"/>
                <a:cs typeface="Proxima Nova Heavy"/>
                <a:sym typeface="Proxima Nova Heavy"/>
              </a:rPr>
              <a:t>DATA MENTAH</a:t>
            </a:r>
          </a:p>
        </p:txBody>
      </p:sp>
      <p:sp>
        <p:nvSpPr>
          <p:cNvPr name="TextBox 12" id="12"/>
          <p:cNvSpPr txBox="true"/>
          <p:nvPr/>
        </p:nvSpPr>
        <p:spPr>
          <a:xfrm rot="0">
            <a:off x="7764736" y="1086182"/>
            <a:ext cx="6112699" cy="573405"/>
          </a:xfrm>
          <a:prstGeom prst="rect">
            <a:avLst/>
          </a:prstGeom>
        </p:spPr>
        <p:txBody>
          <a:bodyPr anchor="t" rtlCol="false" tIns="0" lIns="0" bIns="0" rIns="0">
            <a:spAutoFit/>
          </a:bodyPr>
          <a:lstStyle/>
          <a:p>
            <a:pPr algn="l">
              <a:lnSpc>
                <a:spcPts val="4619"/>
              </a:lnSpc>
            </a:pPr>
            <a:r>
              <a:rPr lang="en-US" b="true" sz="3299" u="sng">
                <a:solidFill>
                  <a:srgbClr val="FFFFFF"/>
                </a:solidFill>
                <a:latin typeface="Roboto Bold"/>
                <a:ea typeface="Roboto Bold"/>
                <a:cs typeface="Roboto Bold"/>
                <a:sym typeface="Roboto Bold"/>
                <a:hlinkClick r:id="rId8" tooltip="https://docs.google.com/spreadsheets/d/1txUOD6x0Rg0bb19LDlFTOyB7W_m80moe/edit?gid=1390111256#gid=1390111256"/>
              </a:rPr>
              <a:t>link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2372A"/>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390674" y="3625537"/>
            <a:ext cx="9737253" cy="2486179"/>
          </a:xfrm>
          <a:custGeom>
            <a:avLst/>
            <a:gdLst/>
            <a:ahLst/>
            <a:cxnLst/>
            <a:rect r="r" b="b" t="t" l="l"/>
            <a:pathLst>
              <a:path h="2486179" w="9737253">
                <a:moveTo>
                  <a:pt x="0" y="0"/>
                </a:moveTo>
                <a:lnTo>
                  <a:pt x="9737252" y="0"/>
                </a:lnTo>
                <a:lnTo>
                  <a:pt x="9737252" y="2486179"/>
                </a:lnTo>
                <a:lnTo>
                  <a:pt x="0" y="2486179"/>
                </a:lnTo>
                <a:lnTo>
                  <a:pt x="0" y="0"/>
                </a:lnTo>
                <a:close/>
              </a:path>
            </a:pathLst>
          </a:custGeom>
          <a:blipFill>
            <a:blip r:embed="rId2">
              <a:extLst>
                <a:ext uri="{96DAC541-7B7A-43D3-8B79-37D633B846F1}">
                  <asvg:svgBlip xmlns:asvg="http://schemas.microsoft.com/office/drawing/2016/SVG/main" r:embed="rId3"/>
                </a:ext>
              </a:extLst>
            </a:blip>
            <a:stretch>
              <a:fillRect l="0" t="0" r="-48015" b="0"/>
            </a:stretch>
          </a:blipFill>
        </p:spPr>
      </p:sp>
      <p:grpSp>
        <p:nvGrpSpPr>
          <p:cNvPr name="Group 3" id="3"/>
          <p:cNvGrpSpPr/>
          <p:nvPr/>
        </p:nvGrpSpPr>
        <p:grpSpPr>
          <a:xfrm rot="0">
            <a:off x="-514350" y="9361839"/>
            <a:ext cx="19128220" cy="1157832"/>
            <a:chOff x="0" y="0"/>
            <a:chExt cx="5037885" cy="304943"/>
          </a:xfrm>
        </p:grpSpPr>
        <p:sp>
          <p:nvSpPr>
            <p:cNvPr name="Freeform 4" id="4"/>
            <p:cNvSpPr/>
            <p:nvPr/>
          </p:nvSpPr>
          <p:spPr>
            <a:xfrm flipH="false" flipV="false" rot="0">
              <a:off x="0" y="0"/>
              <a:ext cx="5037885" cy="304943"/>
            </a:xfrm>
            <a:custGeom>
              <a:avLst/>
              <a:gdLst/>
              <a:ahLst/>
              <a:cxnLst/>
              <a:rect r="r" b="b" t="t" l="l"/>
              <a:pathLst>
                <a:path h="304943" w="5037885">
                  <a:moveTo>
                    <a:pt x="0" y="0"/>
                  </a:moveTo>
                  <a:lnTo>
                    <a:pt x="5037885" y="0"/>
                  </a:lnTo>
                  <a:lnTo>
                    <a:pt x="5037885" y="304943"/>
                  </a:lnTo>
                  <a:lnTo>
                    <a:pt x="0" y="304943"/>
                  </a:lnTo>
                  <a:close/>
                </a:path>
              </a:pathLst>
            </a:custGeom>
            <a:solidFill>
              <a:srgbClr val="FFFFFF"/>
            </a:solidFill>
          </p:spPr>
        </p:sp>
        <p:sp>
          <p:nvSpPr>
            <p:cNvPr name="TextBox 5" id="5"/>
            <p:cNvSpPr txBox="true"/>
            <p:nvPr/>
          </p:nvSpPr>
          <p:spPr>
            <a:xfrm>
              <a:off x="0" y="-57150"/>
              <a:ext cx="5037885" cy="362093"/>
            </a:xfrm>
            <a:prstGeom prst="rect">
              <a:avLst/>
            </a:prstGeom>
          </p:spPr>
          <p:txBody>
            <a:bodyPr anchor="ctr" rtlCol="false" tIns="50800" lIns="50800" bIns="50800" rIns="50800"/>
            <a:lstStyle/>
            <a:p>
              <a:pPr algn="ctr">
                <a:lnSpc>
                  <a:spcPts val="3220"/>
                </a:lnSpc>
              </a:pPr>
            </a:p>
          </p:txBody>
        </p:sp>
      </p:grpSp>
      <p:grpSp>
        <p:nvGrpSpPr>
          <p:cNvPr name="Group 6" id="6"/>
          <p:cNvGrpSpPr/>
          <p:nvPr/>
        </p:nvGrpSpPr>
        <p:grpSpPr>
          <a:xfrm rot="0">
            <a:off x="1310707" y="3988506"/>
            <a:ext cx="9256552" cy="2439858"/>
            <a:chOff x="0" y="0"/>
            <a:chExt cx="2437940" cy="642596"/>
          </a:xfrm>
        </p:grpSpPr>
        <p:sp>
          <p:nvSpPr>
            <p:cNvPr name="Freeform 7" id="7"/>
            <p:cNvSpPr/>
            <p:nvPr/>
          </p:nvSpPr>
          <p:spPr>
            <a:xfrm flipH="false" flipV="false" rot="0">
              <a:off x="0" y="0"/>
              <a:ext cx="2437940" cy="642596"/>
            </a:xfrm>
            <a:custGeom>
              <a:avLst/>
              <a:gdLst/>
              <a:ahLst/>
              <a:cxnLst/>
              <a:rect r="r" b="b" t="t" l="l"/>
              <a:pathLst>
                <a:path h="642596" w="2437940">
                  <a:moveTo>
                    <a:pt x="42655" y="0"/>
                  </a:moveTo>
                  <a:lnTo>
                    <a:pt x="2395285" y="0"/>
                  </a:lnTo>
                  <a:cubicBezTo>
                    <a:pt x="2418842" y="0"/>
                    <a:pt x="2437940" y="19097"/>
                    <a:pt x="2437940" y="42655"/>
                  </a:cubicBezTo>
                  <a:lnTo>
                    <a:pt x="2437940" y="599941"/>
                  </a:lnTo>
                  <a:cubicBezTo>
                    <a:pt x="2437940" y="623499"/>
                    <a:pt x="2418842" y="642596"/>
                    <a:pt x="2395285" y="642596"/>
                  </a:cubicBezTo>
                  <a:lnTo>
                    <a:pt x="42655" y="642596"/>
                  </a:lnTo>
                  <a:cubicBezTo>
                    <a:pt x="19097" y="642596"/>
                    <a:pt x="0" y="623499"/>
                    <a:pt x="0" y="599941"/>
                  </a:cubicBezTo>
                  <a:lnTo>
                    <a:pt x="0" y="42655"/>
                  </a:lnTo>
                  <a:cubicBezTo>
                    <a:pt x="0" y="19097"/>
                    <a:pt x="19097" y="0"/>
                    <a:pt x="42655" y="0"/>
                  </a:cubicBezTo>
                  <a:close/>
                </a:path>
              </a:pathLst>
            </a:custGeom>
            <a:solidFill>
              <a:srgbClr val="98D49A"/>
            </a:solidFill>
          </p:spPr>
        </p:sp>
        <p:sp>
          <p:nvSpPr>
            <p:cNvPr name="TextBox 8" id="8"/>
            <p:cNvSpPr txBox="true"/>
            <p:nvPr/>
          </p:nvSpPr>
          <p:spPr>
            <a:xfrm>
              <a:off x="0" y="-38100"/>
              <a:ext cx="2437940" cy="680696"/>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1749910" y="5327594"/>
            <a:ext cx="4960211" cy="3381153"/>
            <a:chOff x="0" y="0"/>
            <a:chExt cx="768467" cy="523829"/>
          </a:xfrm>
        </p:grpSpPr>
        <p:sp>
          <p:nvSpPr>
            <p:cNvPr name="Freeform 10" id="10"/>
            <p:cNvSpPr/>
            <p:nvPr/>
          </p:nvSpPr>
          <p:spPr>
            <a:xfrm flipH="false" flipV="false" rot="0">
              <a:off x="0" y="0"/>
              <a:ext cx="768467" cy="523829"/>
            </a:xfrm>
            <a:custGeom>
              <a:avLst/>
              <a:gdLst/>
              <a:ahLst/>
              <a:cxnLst/>
              <a:rect r="r" b="b" t="t" l="l"/>
              <a:pathLst>
                <a:path h="523829" w="768467">
                  <a:moveTo>
                    <a:pt x="70236" y="0"/>
                  </a:moveTo>
                  <a:lnTo>
                    <a:pt x="698230" y="0"/>
                  </a:lnTo>
                  <a:cubicBezTo>
                    <a:pt x="716858" y="0"/>
                    <a:pt x="734723" y="7400"/>
                    <a:pt x="747895" y="20572"/>
                  </a:cubicBezTo>
                  <a:cubicBezTo>
                    <a:pt x="761067" y="33744"/>
                    <a:pt x="768467" y="51608"/>
                    <a:pt x="768467" y="70236"/>
                  </a:cubicBezTo>
                  <a:lnTo>
                    <a:pt x="768467" y="453593"/>
                  </a:lnTo>
                  <a:cubicBezTo>
                    <a:pt x="768467" y="492383"/>
                    <a:pt x="737021" y="523829"/>
                    <a:pt x="698230" y="523829"/>
                  </a:cubicBezTo>
                  <a:lnTo>
                    <a:pt x="70236" y="523829"/>
                  </a:lnTo>
                  <a:cubicBezTo>
                    <a:pt x="51608" y="523829"/>
                    <a:pt x="33744" y="516429"/>
                    <a:pt x="20572" y="503257"/>
                  </a:cubicBezTo>
                  <a:cubicBezTo>
                    <a:pt x="7400" y="490085"/>
                    <a:pt x="0" y="472221"/>
                    <a:pt x="0" y="453593"/>
                  </a:cubicBezTo>
                  <a:lnTo>
                    <a:pt x="0" y="70236"/>
                  </a:lnTo>
                  <a:cubicBezTo>
                    <a:pt x="0" y="31446"/>
                    <a:pt x="31446" y="0"/>
                    <a:pt x="70236" y="0"/>
                  </a:cubicBezTo>
                  <a:close/>
                </a:path>
              </a:pathLst>
            </a:custGeom>
            <a:blipFill>
              <a:blip r:embed="rId4"/>
              <a:stretch>
                <a:fillRect l="0" t="-23350" r="0" b="-23350"/>
              </a:stretch>
            </a:blipFill>
          </p:spPr>
        </p:sp>
      </p:grpSp>
      <p:grpSp>
        <p:nvGrpSpPr>
          <p:cNvPr name="Group 11" id="11"/>
          <p:cNvGrpSpPr/>
          <p:nvPr/>
        </p:nvGrpSpPr>
        <p:grpSpPr>
          <a:xfrm rot="0">
            <a:off x="11749910" y="1762347"/>
            <a:ext cx="4960211" cy="3381153"/>
            <a:chOff x="0" y="0"/>
            <a:chExt cx="768467" cy="523829"/>
          </a:xfrm>
        </p:grpSpPr>
        <p:sp>
          <p:nvSpPr>
            <p:cNvPr name="Freeform 12" id="12"/>
            <p:cNvSpPr/>
            <p:nvPr/>
          </p:nvSpPr>
          <p:spPr>
            <a:xfrm flipH="false" flipV="false" rot="0">
              <a:off x="0" y="0"/>
              <a:ext cx="768467" cy="523829"/>
            </a:xfrm>
            <a:custGeom>
              <a:avLst/>
              <a:gdLst/>
              <a:ahLst/>
              <a:cxnLst/>
              <a:rect r="r" b="b" t="t" l="l"/>
              <a:pathLst>
                <a:path h="523829" w="768467">
                  <a:moveTo>
                    <a:pt x="70236" y="0"/>
                  </a:moveTo>
                  <a:lnTo>
                    <a:pt x="698230" y="0"/>
                  </a:lnTo>
                  <a:cubicBezTo>
                    <a:pt x="716858" y="0"/>
                    <a:pt x="734723" y="7400"/>
                    <a:pt x="747895" y="20572"/>
                  </a:cubicBezTo>
                  <a:cubicBezTo>
                    <a:pt x="761067" y="33744"/>
                    <a:pt x="768467" y="51608"/>
                    <a:pt x="768467" y="70236"/>
                  </a:cubicBezTo>
                  <a:lnTo>
                    <a:pt x="768467" y="453593"/>
                  </a:lnTo>
                  <a:cubicBezTo>
                    <a:pt x="768467" y="492383"/>
                    <a:pt x="737021" y="523829"/>
                    <a:pt x="698230" y="523829"/>
                  </a:cubicBezTo>
                  <a:lnTo>
                    <a:pt x="70236" y="523829"/>
                  </a:lnTo>
                  <a:cubicBezTo>
                    <a:pt x="51608" y="523829"/>
                    <a:pt x="33744" y="516429"/>
                    <a:pt x="20572" y="503257"/>
                  </a:cubicBezTo>
                  <a:cubicBezTo>
                    <a:pt x="7400" y="490085"/>
                    <a:pt x="0" y="472221"/>
                    <a:pt x="0" y="453593"/>
                  </a:cubicBezTo>
                  <a:lnTo>
                    <a:pt x="0" y="70236"/>
                  </a:lnTo>
                  <a:cubicBezTo>
                    <a:pt x="0" y="31446"/>
                    <a:pt x="31446" y="0"/>
                    <a:pt x="70236" y="0"/>
                  </a:cubicBezTo>
                  <a:close/>
                </a:path>
              </a:pathLst>
            </a:custGeom>
            <a:blipFill>
              <a:blip r:embed="rId5"/>
              <a:stretch>
                <a:fillRect l="-14459" t="0" r="-14459" b="0"/>
              </a:stretch>
            </a:blipFill>
          </p:spPr>
        </p:sp>
      </p:grpSp>
      <p:sp>
        <p:nvSpPr>
          <p:cNvPr name="TextBox 13" id="13"/>
          <p:cNvSpPr txBox="true"/>
          <p:nvPr/>
        </p:nvSpPr>
        <p:spPr>
          <a:xfrm rot="0">
            <a:off x="1310707" y="1385908"/>
            <a:ext cx="9256552" cy="1171574"/>
          </a:xfrm>
          <a:prstGeom prst="rect">
            <a:avLst/>
          </a:prstGeom>
        </p:spPr>
        <p:txBody>
          <a:bodyPr anchor="t" rtlCol="false" tIns="0" lIns="0" bIns="0" rIns="0">
            <a:spAutoFit/>
          </a:bodyPr>
          <a:lstStyle/>
          <a:p>
            <a:pPr algn="l">
              <a:lnSpc>
                <a:spcPts val="9375"/>
              </a:lnSpc>
            </a:pPr>
            <a:r>
              <a:rPr lang="en-US" sz="7500" b="true">
                <a:solidFill>
                  <a:srgbClr val="98D49A"/>
                </a:solidFill>
                <a:latin typeface="Proxima Nova Bold"/>
                <a:ea typeface="Proxima Nova Bold"/>
                <a:cs typeface="Proxima Nova Bold"/>
                <a:sym typeface="Proxima Nova Bold"/>
              </a:rPr>
              <a:t>JUDUL ANALISIS</a:t>
            </a:r>
          </a:p>
        </p:txBody>
      </p:sp>
      <p:sp>
        <p:nvSpPr>
          <p:cNvPr name="Freeform 14" id="14"/>
          <p:cNvSpPr/>
          <p:nvPr/>
        </p:nvSpPr>
        <p:spPr>
          <a:xfrm flipH="false" flipV="false" rot="-5400000">
            <a:off x="9917632" y="1095840"/>
            <a:ext cx="281113" cy="1828376"/>
          </a:xfrm>
          <a:custGeom>
            <a:avLst/>
            <a:gdLst/>
            <a:ahLst/>
            <a:cxnLst/>
            <a:rect r="r" b="b" t="t" l="l"/>
            <a:pathLst>
              <a:path h="1828376" w="281113">
                <a:moveTo>
                  <a:pt x="0" y="0"/>
                </a:moveTo>
                <a:lnTo>
                  <a:pt x="281112" y="0"/>
                </a:lnTo>
                <a:lnTo>
                  <a:pt x="281112" y="1828376"/>
                </a:lnTo>
                <a:lnTo>
                  <a:pt x="0" y="18283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1899434" y="4436006"/>
            <a:ext cx="8079098" cy="1672590"/>
          </a:xfrm>
          <a:prstGeom prst="rect">
            <a:avLst/>
          </a:prstGeom>
        </p:spPr>
        <p:txBody>
          <a:bodyPr anchor="t" rtlCol="false" tIns="0" lIns="0" bIns="0" rIns="0">
            <a:spAutoFit/>
          </a:bodyPr>
          <a:lstStyle/>
          <a:p>
            <a:pPr algn="just">
              <a:lnSpc>
                <a:spcPts val="3360"/>
              </a:lnSpc>
            </a:pPr>
            <a:r>
              <a:rPr lang="en-US" sz="2400" b="true">
                <a:solidFill>
                  <a:srgbClr val="000000"/>
                </a:solidFill>
                <a:latin typeface="Roboto Bold"/>
                <a:ea typeface="Roboto Bold"/>
                <a:cs typeface="Roboto Bold"/>
                <a:sym typeface="Roboto Bold"/>
              </a:rPr>
              <a:t>daily reveneu menganalisis pendapatan harian dari penjualan 2010- 2011  menggunakan mata uang pount mata uang uk inggris dengan mengakali unit price *Quantity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2372A"/>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23109" y="586283"/>
            <a:ext cx="1065215" cy="2813389"/>
          </a:xfrm>
          <a:custGeom>
            <a:avLst/>
            <a:gdLst/>
            <a:ahLst/>
            <a:cxnLst/>
            <a:rect r="r" b="b" t="t" l="l"/>
            <a:pathLst>
              <a:path h="2813389" w="1065215">
                <a:moveTo>
                  <a:pt x="0" y="0"/>
                </a:moveTo>
                <a:lnTo>
                  <a:pt x="1065215" y="0"/>
                </a:lnTo>
                <a:lnTo>
                  <a:pt x="1065215" y="2813389"/>
                </a:lnTo>
                <a:lnTo>
                  <a:pt x="0" y="2813389"/>
                </a:lnTo>
                <a:lnTo>
                  <a:pt x="0" y="0"/>
                </a:lnTo>
                <a:close/>
              </a:path>
            </a:pathLst>
          </a:custGeom>
          <a:blipFill>
            <a:blip r:embed="rId2">
              <a:extLst>
                <a:ext uri="{96DAC541-7B7A-43D3-8B79-37D633B846F1}">
                  <asvg:svgBlip xmlns:asvg="http://schemas.microsoft.com/office/drawing/2016/SVG/main" r:embed="rId3"/>
                </a:ext>
              </a:extLst>
            </a:blip>
            <a:stretch>
              <a:fillRect l="0" t="-467" r="-32674" b="0"/>
            </a:stretch>
          </a:blipFill>
        </p:spPr>
      </p:sp>
      <p:sp>
        <p:nvSpPr>
          <p:cNvPr name="Freeform 3" id="3"/>
          <p:cNvSpPr/>
          <p:nvPr/>
        </p:nvSpPr>
        <p:spPr>
          <a:xfrm flipH="false" flipV="true" rot="-5400000">
            <a:off x="16501024" y="586283"/>
            <a:ext cx="1065215" cy="2813389"/>
          </a:xfrm>
          <a:custGeom>
            <a:avLst/>
            <a:gdLst/>
            <a:ahLst/>
            <a:cxnLst/>
            <a:rect r="r" b="b" t="t" l="l"/>
            <a:pathLst>
              <a:path h="2813389" w="1065215">
                <a:moveTo>
                  <a:pt x="0" y="2813389"/>
                </a:moveTo>
                <a:lnTo>
                  <a:pt x="1065215" y="2813389"/>
                </a:lnTo>
                <a:lnTo>
                  <a:pt x="1065215" y="0"/>
                </a:lnTo>
                <a:lnTo>
                  <a:pt x="0" y="0"/>
                </a:lnTo>
                <a:lnTo>
                  <a:pt x="0" y="2813389"/>
                </a:lnTo>
                <a:close/>
              </a:path>
            </a:pathLst>
          </a:custGeom>
          <a:blipFill>
            <a:blip r:embed="rId2">
              <a:extLst>
                <a:ext uri="{96DAC541-7B7A-43D3-8B79-37D633B846F1}">
                  <asvg:svgBlip xmlns:asvg="http://schemas.microsoft.com/office/drawing/2016/SVG/main" r:embed="rId3"/>
                </a:ext>
              </a:extLst>
            </a:blip>
            <a:stretch>
              <a:fillRect l="0" t="-467" r="-32674" b="0"/>
            </a:stretch>
          </a:blipFill>
        </p:spPr>
      </p:sp>
      <p:sp>
        <p:nvSpPr>
          <p:cNvPr name="TextBox 4" id="4"/>
          <p:cNvSpPr txBox="true"/>
          <p:nvPr/>
        </p:nvSpPr>
        <p:spPr>
          <a:xfrm rot="0">
            <a:off x="3337338" y="1330198"/>
            <a:ext cx="11613324" cy="1171574"/>
          </a:xfrm>
          <a:prstGeom prst="rect">
            <a:avLst/>
          </a:prstGeom>
        </p:spPr>
        <p:txBody>
          <a:bodyPr anchor="t" rtlCol="false" tIns="0" lIns="0" bIns="0" rIns="0">
            <a:spAutoFit/>
          </a:bodyPr>
          <a:lstStyle/>
          <a:p>
            <a:pPr algn="ctr">
              <a:lnSpc>
                <a:spcPts val="9375"/>
              </a:lnSpc>
            </a:pPr>
            <a:r>
              <a:rPr lang="en-US" b="true" sz="7500">
                <a:solidFill>
                  <a:srgbClr val="98D49A"/>
                </a:solidFill>
                <a:latin typeface="Proxima Nova Bold"/>
                <a:ea typeface="Proxima Nova Bold"/>
                <a:cs typeface="Proxima Nova Bold"/>
                <a:sym typeface="Proxima Nova Bold"/>
              </a:rPr>
              <a:t>KETERLIBTAN KELOMPOK</a:t>
            </a:r>
          </a:p>
        </p:txBody>
      </p:sp>
      <p:grpSp>
        <p:nvGrpSpPr>
          <p:cNvPr name="Group 5" id="5"/>
          <p:cNvGrpSpPr/>
          <p:nvPr/>
        </p:nvGrpSpPr>
        <p:grpSpPr>
          <a:xfrm rot="0">
            <a:off x="1028700" y="4075425"/>
            <a:ext cx="16677822" cy="4198441"/>
            <a:chOff x="0" y="0"/>
            <a:chExt cx="22237096" cy="5597921"/>
          </a:xfrm>
        </p:grpSpPr>
        <p:sp>
          <p:nvSpPr>
            <p:cNvPr name="TextBox 6" id="6"/>
            <p:cNvSpPr txBox="true"/>
            <p:nvPr/>
          </p:nvSpPr>
          <p:spPr>
            <a:xfrm rot="0">
              <a:off x="0" y="-76200"/>
              <a:ext cx="8150266" cy="739140"/>
            </a:xfrm>
            <a:prstGeom prst="rect">
              <a:avLst/>
            </a:prstGeom>
          </p:spPr>
          <p:txBody>
            <a:bodyPr anchor="t" rtlCol="false" tIns="0" lIns="0" bIns="0" rIns="0">
              <a:spAutoFit/>
            </a:bodyPr>
            <a:lstStyle/>
            <a:p>
              <a:pPr algn="l">
                <a:lnSpc>
                  <a:spcPts val="4619"/>
                </a:lnSpc>
              </a:pPr>
              <a:r>
                <a:rPr lang="en-US" sz="3299" b="true">
                  <a:solidFill>
                    <a:srgbClr val="FFFFFF"/>
                  </a:solidFill>
                  <a:latin typeface="Roboto Bold"/>
                  <a:ea typeface="Roboto Bold"/>
                  <a:cs typeface="Roboto Bold"/>
                  <a:sym typeface="Roboto Bold"/>
                </a:rPr>
                <a:t>moh. ghufron 25-196</a:t>
              </a:r>
            </a:p>
          </p:txBody>
        </p:sp>
        <p:sp>
          <p:nvSpPr>
            <p:cNvPr name="TextBox 7" id="7"/>
            <p:cNvSpPr txBox="true"/>
            <p:nvPr/>
          </p:nvSpPr>
          <p:spPr>
            <a:xfrm rot="0">
              <a:off x="0" y="1126490"/>
              <a:ext cx="7777172" cy="1329525"/>
            </a:xfrm>
            <a:prstGeom prst="rect">
              <a:avLst/>
            </a:prstGeom>
          </p:spPr>
          <p:txBody>
            <a:bodyPr anchor="t" rtlCol="false" tIns="0" lIns="0" bIns="0" rIns="0">
              <a:spAutoFit/>
            </a:bodyPr>
            <a:lstStyle/>
            <a:p>
              <a:pPr algn="l">
                <a:lnSpc>
                  <a:spcPts val="4088"/>
                </a:lnSpc>
              </a:pPr>
              <a:r>
                <a:rPr lang="en-US" sz="2920" b="true">
                  <a:solidFill>
                    <a:srgbClr val="FFFFFF"/>
                  </a:solidFill>
                  <a:latin typeface="Roboto Bold"/>
                  <a:ea typeface="Roboto Bold"/>
                  <a:cs typeface="Roboto Bold"/>
                  <a:sym typeface="Roboto Bold"/>
                </a:rPr>
                <a:t>bidang: sampling </a:t>
              </a:r>
            </a:p>
            <a:p>
              <a:pPr algn="l">
                <a:lnSpc>
                  <a:spcPts val="4088"/>
                </a:lnSpc>
              </a:pPr>
              <a:r>
                <a:rPr lang="en-US" sz="2920" b="true">
                  <a:solidFill>
                    <a:srgbClr val="FFFFFF"/>
                  </a:solidFill>
                  <a:latin typeface="Roboto Bold"/>
                  <a:ea typeface="Roboto Bold"/>
                  <a:cs typeface="Roboto Bold"/>
                  <a:sym typeface="Roboto Bold"/>
                </a:rPr>
                <a:t>metode: simple random sampling</a:t>
              </a:r>
            </a:p>
          </p:txBody>
        </p:sp>
        <p:sp>
          <p:nvSpPr>
            <p:cNvPr name="TextBox 8" id="8"/>
            <p:cNvSpPr txBox="true"/>
            <p:nvPr/>
          </p:nvSpPr>
          <p:spPr>
            <a:xfrm rot="0">
              <a:off x="14086830" y="-76200"/>
              <a:ext cx="8150266" cy="739140"/>
            </a:xfrm>
            <a:prstGeom prst="rect">
              <a:avLst/>
            </a:prstGeom>
          </p:spPr>
          <p:txBody>
            <a:bodyPr anchor="t" rtlCol="false" tIns="0" lIns="0" bIns="0" rIns="0">
              <a:spAutoFit/>
            </a:bodyPr>
            <a:lstStyle/>
            <a:p>
              <a:pPr algn="l">
                <a:lnSpc>
                  <a:spcPts val="4619"/>
                </a:lnSpc>
              </a:pPr>
              <a:r>
                <a:rPr lang="en-US" sz="3299" b="true">
                  <a:solidFill>
                    <a:srgbClr val="FFFFFF"/>
                  </a:solidFill>
                  <a:latin typeface="Roboto Bold"/>
                  <a:ea typeface="Roboto Bold"/>
                  <a:cs typeface="Roboto Bold"/>
                  <a:sym typeface="Roboto Bold"/>
                </a:rPr>
                <a:t>ariyoga aditya 25-077</a:t>
              </a:r>
            </a:p>
          </p:txBody>
        </p:sp>
        <p:sp>
          <p:nvSpPr>
            <p:cNvPr name="TextBox 9" id="9"/>
            <p:cNvSpPr txBox="true"/>
            <p:nvPr/>
          </p:nvSpPr>
          <p:spPr>
            <a:xfrm rot="0">
              <a:off x="14086830" y="1126490"/>
              <a:ext cx="7777172" cy="643882"/>
            </a:xfrm>
            <a:prstGeom prst="rect">
              <a:avLst/>
            </a:prstGeom>
          </p:spPr>
          <p:txBody>
            <a:bodyPr anchor="t" rtlCol="false" tIns="0" lIns="0" bIns="0" rIns="0">
              <a:spAutoFit/>
            </a:bodyPr>
            <a:lstStyle/>
            <a:p>
              <a:pPr algn="l">
                <a:lnSpc>
                  <a:spcPts val="4088"/>
                </a:lnSpc>
              </a:pPr>
              <a:r>
                <a:rPr lang="en-US" sz="2920" b="true">
                  <a:solidFill>
                    <a:srgbClr val="FFFFFF"/>
                  </a:solidFill>
                  <a:latin typeface="Roboto Bold"/>
                  <a:ea typeface="Roboto Bold"/>
                  <a:cs typeface="Roboto Bold"/>
                  <a:sym typeface="Roboto Bold"/>
                </a:rPr>
                <a:t>bidang: pembuktian hipotesa</a:t>
              </a:r>
            </a:p>
          </p:txBody>
        </p:sp>
        <p:sp>
          <p:nvSpPr>
            <p:cNvPr name="TextBox 10" id="10"/>
            <p:cNvSpPr txBox="true"/>
            <p:nvPr/>
          </p:nvSpPr>
          <p:spPr>
            <a:xfrm rot="0">
              <a:off x="0" y="3751350"/>
              <a:ext cx="8150266" cy="739140"/>
            </a:xfrm>
            <a:prstGeom prst="rect">
              <a:avLst/>
            </a:prstGeom>
          </p:spPr>
          <p:txBody>
            <a:bodyPr anchor="t" rtlCol="false" tIns="0" lIns="0" bIns="0" rIns="0">
              <a:spAutoFit/>
            </a:bodyPr>
            <a:lstStyle/>
            <a:p>
              <a:pPr algn="l">
                <a:lnSpc>
                  <a:spcPts val="4619"/>
                </a:lnSpc>
              </a:pPr>
              <a:r>
                <a:rPr lang="en-US" sz="3299" b="true">
                  <a:solidFill>
                    <a:srgbClr val="FFFFFF"/>
                  </a:solidFill>
                  <a:latin typeface="Roboto Bold"/>
                  <a:ea typeface="Roboto Bold"/>
                  <a:cs typeface="Roboto Bold"/>
                  <a:sym typeface="Roboto Bold"/>
                </a:rPr>
                <a:t>abdurrohman 25-133</a:t>
              </a:r>
            </a:p>
          </p:txBody>
        </p:sp>
        <p:sp>
          <p:nvSpPr>
            <p:cNvPr name="TextBox 11" id="11"/>
            <p:cNvSpPr txBox="true"/>
            <p:nvPr/>
          </p:nvSpPr>
          <p:spPr>
            <a:xfrm rot="0">
              <a:off x="0" y="4954040"/>
              <a:ext cx="7777172" cy="643882"/>
            </a:xfrm>
            <a:prstGeom prst="rect">
              <a:avLst/>
            </a:prstGeom>
          </p:spPr>
          <p:txBody>
            <a:bodyPr anchor="t" rtlCol="false" tIns="0" lIns="0" bIns="0" rIns="0">
              <a:spAutoFit/>
            </a:bodyPr>
            <a:lstStyle/>
            <a:p>
              <a:pPr algn="l">
                <a:lnSpc>
                  <a:spcPts val="4088"/>
                </a:lnSpc>
              </a:pPr>
              <a:r>
                <a:rPr lang="en-US" sz="2920" b="true">
                  <a:solidFill>
                    <a:srgbClr val="FFFFFF"/>
                  </a:solidFill>
                  <a:latin typeface="Roboto Bold"/>
                  <a:ea typeface="Roboto Bold"/>
                  <a:cs typeface="Roboto Bold"/>
                  <a:sym typeface="Roboto Bold"/>
                </a:rPr>
                <a:t>bidang: anslisi hipotesa</a:t>
              </a:r>
            </a:p>
          </p:txBody>
        </p:sp>
      </p:grpSp>
      <p:sp>
        <p:nvSpPr>
          <p:cNvPr name="TextBox 12" id="12"/>
          <p:cNvSpPr txBox="true"/>
          <p:nvPr/>
        </p:nvSpPr>
        <p:spPr>
          <a:xfrm rot="0">
            <a:off x="11593823" y="6609647"/>
            <a:ext cx="6112699" cy="573405"/>
          </a:xfrm>
          <a:prstGeom prst="rect">
            <a:avLst/>
          </a:prstGeom>
        </p:spPr>
        <p:txBody>
          <a:bodyPr anchor="t" rtlCol="false" tIns="0" lIns="0" bIns="0" rIns="0">
            <a:spAutoFit/>
          </a:bodyPr>
          <a:lstStyle/>
          <a:p>
            <a:pPr algn="l">
              <a:lnSpc>
                <a:spcPts val="4619"/>
              </a:lnSpc>
            </a:pPr>
            <a:r>
              <a:rPr lang="en-US" sz="3299" b="true">
                <a:solidFill>
                  <a:srgbClr val="FFFFFF"/>
                </a:solidFill>
                <a:latin typeface="Roboto Bold"/>
                <a:ea typeface="Roboto Bold"/>
                <a:cs typeface="Roboto Bold"/>
                <a:sym typeface="Roboto Bold"/>
              </a:rPr>
              <a:t>odipusman laia 25-094</a:t>
            </a:r>
          </a:p>
        </p:txBody>
      </p:sp>
      <p:sp>
        <p:nvSpPr>
          <p:cNvPr name="TextBox 13" id="13"/>
          <p:cNvSpPr txBox="true"/>
          <p:nvPr/>
        </p:nvSpPr>
        <p:spPr>
          <a:xfrm rot="0">
            <a:off x="11426421" y="7776668"/>
            <a:ext cx="5832879" cy="497199"/>
          </a:xfrm>
          <a:prstGeom prst="rect">
            <a:avLst/>
          </a:prstGeom>
        </p:spPr>
        <p:txBody>
          <a:bodyPr anchor="t" rtlCol="false" tIns="0" lIns="0" bIns="0" rIns="0">
            <a:spAutoFit/>
          </a:bodyPr>
          <a:lstStyle/>
          <a:p>
            <a:pPr algn="l">
              <a:lnSpc>
                <a:spcPts val="4088"/>
              </a:lnSpc>
            </a:pPr>
            <a:r>
              <a:rPr lang="en-US" sz="2920" b="true">
                <a:solidFill>
                  <a:srgbClr val="FFFFFF"/>
                </a:solidFill>
                <a:latin typeface="Roboto Bold"/>
                <a:ea typeface="Roboto Bold"/>
                <a:cs typeface="Roboto Bold"/>
                <a:sym typeface="Roboto Bold"/>
              </a:rPr>
              <a:t>bidang: pembuatan ppt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2372A"/>
        </a:solidFill>
      </p:bgPr>
    </p:bg>
    <p:spTree>
      <p:nvGrpSpPr>
        <p:cNvPr id="1" name=""/>
        <p:cNvGrpSpPr/>
        <p:nvPr/>
      </p:nvGrpSpPr>
      <p:grpSpPr>
        <a:xfrm>
          <a:off x="0" y="0"/>
          <a:ext cx="0" cy="0"/>
          <a:chOff x="0" y="0"/>
          <a:chExt cx="0" cy="0"/>
        </a:xfrm>
      </p:grpSpPr>
      <p:grpSp>
        <p:nvGrpSpPr>
          <p:cNvPr name="Group 2" id="2"/>
          <p:cNvGrpSpPr/>
          <p:nvPr/>
        </p:nvGrpSpPr>
        <p:grpSpPr>
          <a:xfrm rot="0">
            <a:off x="-514350" y="9361839"/>
            <a:ext cx="19128220" cy="1157832"/>
            <a:chOff x="0" y="0"/>
            <a:chExt cx="5037885" cy="304943"/>
          </a:xfrm>
        </p:grpSpPr>
        <p:sp>
          <p:nvSpPr>
            <p:cNvPr name="Freeform 3" id="3"/>
            <p:cNvSpPr/>
            <p:nvPr/>
          </p:nvSpPr>
          <p:spPr>
            <a:xfrm flipH="false" flipV="false" rot="0">
              <a:off x="0" y="0"/>
              <a:ext cx="5037885" cy="304943"/>
            </a:xfrm>
            <a:custGeom>
              <a:avLst/>
              <a:gdLst/>
              <a:ahLst/>
              <a:cxnLst/>
              <a:rect r="r" b="b" t="t" l="l"/>
              <a:pathLst>
                <a:path h="304943" w="5037885">
                  <a:moveTo>
                    <a:pt x="0" y="0"/>
                  </a:moveTo>
                  <a:lnTo>
                    <a:pt x="5037885" y="0"/>
                  </a:lnTo>
                  <a:lnTo>
                    <a:pt x="5037885" y="304943"/>
                  </a:lnTo>
                  <a:lnTo>
                    <a:pt x="0" y="304943"/>
                  </a:lnTo>
                  <a:close/>
                </a:path>
              </a:pathLst>
            </a:custGeom>
            <a:solidFill>
              <a:srgbClr val="FFFFFF"/>
            </a:solidFill>
          </p:spPr>
        </p:sp>
        <p:sp>
          <p:nvSpPr>
            <p:cNvPr name="TextBox 4" id="4"/>
            <p:cNvSpPr txBox="true"/>
            <p:nvPr/>
          </p:nvSpPr>
          <p:spPr>
            <a:xfrm>
              <a:off x="0" y="-57150"/>
              <a:ext cx="5037885" cy="362093"/>
            </a:xfrm>
            <a:prstGeom prst="rect">
              <a:avLst/>
            </a:prstGeom>
          </p:spPr>
          <p:txBody>
            <a:bodyPr anchor="ctr" rtlCol="false" tIns="50800" lIns="50800" bIns="50800" rIns="50800"/>
            <a:lstStyle/>
            <a:p>
              <a:pPr algn="ctr">
                <a:lnSpc>
                  <a:spcPts val="3220"/>
                </a:lnSpc>
              </a:pPr>
            </a:p>
          </p:txBody>
        </p:sp>
      </p:grpSp>
      <p:grpSp>
        <p:nvGrpSpPr>
          <p:cNvPr name="Group 5" id="5"/>
          <p:cNvGrpSpPr/>
          <p:nvPr/>
        </p:nvGrpSpPr>
        <p:grpSpPr>
          <a:xfrm rot="0">
            <a:off x="0" y="4381682"/>
            <a:ext cx="15493588" cy="4066127"/>
            <a:chOff x="0" y="0"/>
            <a:chExt cx="4080616" cy="1070914"/>
          </a:xfrm>
        </p:grpSpPr>
        <p:sp>
          <p:nvSpPr>
            <p:cNvPr name="Freeform 6" id="6"/>
            <p:cNvSpPr/>
            <p:nvPr/>
          </p:nvSpPr>
          <p:spPr>
            <a:xfrm flipH="false" flipV="false" rot="0">
              <a:off x="0" y="0"/>
              <a:ext cx="4080616" cy="1070914"/>
            </a:xfrm>
            <a:custGeom>
              <a:avLst/>
              <a:gdLst/>
              <a:ahLst/>
              <a:cxnLst/>
              <a:rect r="r" b="b" t="t" l="l"/>
              <a:pathLst>
                <a:path h="1070914" w="4080616">
                  <a:moveTo>
                    <a:pt x="25484" y="0"/>
                  </a:moveTo>
                  <a:lnTo>
                    <a:pt x="4055132" y="0"/>
                  </a:lnTo>
                  <a:cubicBezTo>
                    <a:pt x="4061890" y="0"/>
                    <a:pt x="4068372" y="2685"/>
                    <a:pt x="4073152" y="7464"/>
                  </a:cubicBezTo>
                  <a:cubicBezTo>
                    <a:pt x="4077931" y="12243"/>
                    <a:pt x="4080616" y="18725"/>
                    <a:pt x="4080616" y="25484"/>
                  </a:cubicBezTo>
                  <a:lnTo>
                    <a:pt x="4080616" y="1045430"/>
                  </a:lnTo>
                  <a:cubicBezTo>
                    <a:pt x="4080616" y="1052189"/>
                    <a:pt x="4077931" y="1058671"/>
                    <a:pt x="4073152" y="1063450"/>
                  </a:cubicBezTo>
                  <a:cubicBezTo>
                    <a:pt x="4068372" y="1068229"/>
                    <a:pt x="4061890" y="1070914"/>
                    <a:pt x="4055132" y="1070914"/>
                  </a:cubicBezTo>
                  <a:lnTo>
                    <a:pt x="25484" y="1070914"/>
                  </a:lnTo>
                  <a:cubicBezTo>
                    <a:pt x="18725" y="1070914"/>
                    <a:pt x="12243" y="1068229"/>
                    <a:pt x="7464" y="1063450"/>
                  </a:cubicBezTo>
                  <a:cubicBezTo>
                    <a:pt x="2685" y="1058671"/>
                    <a:pt x="0" y="1052189"/>
                    <a:pt x="0" y="1045430"/>
                  </a:cubicBezTo>
                  <a:lnTo>
                    <a:pt x="0" y="25484"/>
                  </a:lnTo>
                  <a:cubicBezTo>
                    <a:pt x="0" y="18725"/>
                    <a:pt x="2685" y="12243"/>
                    <a:pt x="7464" y="7464"/>
                  </a:cubicBezTo>
                  <a:cubicBezTo>
                    <a:pt x="12243" y="2685"/>
                    <a:pt x="18725" y="0"/>
                    <a:pt x="25484" y="0"/>
                  </a:cubicBezTo>
                  <a:close/>
                </a:path>
              </a:pathLst>
            </a:custGeom>
            <a:solidFill>
              <a:srgbClr val="98D49A"/>
            </a:solidFill>
          </p:spPr>
        </p:sp>
        <p:sp>
          <p:nvSpPr>
            <p:cNvPr name="TextBox 7" id="7"/>
            <p:cNvSpPr txBox="true"/>
            <p:nvPr/>
          </p:nvSpPr>
          <p:spPr>
            <a:xfrm>
              <a:off x="0" y="-38100"/>
              <a:ext cx="4080616" cy="110901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67439" y="1765936"/>
            <a:ext cx="7971343" cy="2333624"/>
            <a:chOff x="0" y="0"/>
            <a:chExt cx="1234970" cy="361539"/>
          </a:xfrm>
        </p:grpSpPr>
        <p:sp>
          <p:nvSpPr>
            <p:cNvPr name="Freeform 9" id="9"/>
            <p:cNvSpPr/>
            <p:nvPr/>
          </p:nvSpPr>
          <p:spPr>
            <a:xfrm flipH="false" flipV="false" rot="0">
              <a:off x="0" y="0"/>
              <a:ext cx="1234970" cy="361539"/>
            </a:xfrm>
            <a:custGeom>
              <a:avLst/>
              <a:gdLst/>
              <a:ahLst/>
              <a:cxnLst/>
              <a:rect r="r" b="b" t="t" l="l"/>
              <a:pathLst>
                <a:path h="361539" w="1234970">
                  <a:moveTo>
                    <a:pt x="38849" y="0"/>
                  </a:moveTo>
                  <a:lnTo>
                    <a:pt x="1196121" y="0"/>
                  </a:lnTo>
                  <a:cubicBezTo>
                    <a:pt x="1206424" y="0"/>
                    <a:pt x="1216306" y="4093"/>
                    <a:pt x="1223591" y="11379"/>
                  </a:cubicBezTo>
                  <a:cubicBezTo>
                    <a:pt x="1230877" y="18664"/>
                    <a:pt x="1234970" y="28545"/>
                    <a:pt x="1234970" y="38849"/>
                  </a:cubicBezTo>
                  <a:lnTo>
                    <a:pt x="1234970" y="322691"/>
                  </a:lnTo>
                  <a:cubicBezTo>
                    <a:pt x="1234970" y="332994"/>
                    <a:pt x="1230877" y="342875"/>
                    <a:pt x="1223591" y="350161"/>
                  </a:cubicBezTo>
                  <a:cubicBezTo>
                    <a:pt x="1216306" y="357446"/>
                    <a:pt x="1206424" y="361539"/>
                    <a:pt x="1196121" y="361539"/>
                  </a:cubicBezTo>
                  <a:lnTo>
                    <a:pt x="38849" y="361539"/>
                  </a:lnTo>
                  <a:cubicBezTo>
                    <a:pt x="17393" y="361539"/>
                    <a:pt x="0" y="344146"/>
                    <a:pt x="0" y="322691"/>
                  </a:cubicBezTo>
                  <a:lnTo>
                    <a:pt x="0" y="38849"/>
                  </a:lnTo>
                  <a:cubicBezTo>
                    <a:pt x="0" y="28545"/>
                    <a:pt x="4093" y="18664"/>
                    <a:pt x="11379" y="11379"/>
                  </a:cubicBezTo>
                  <a:cubicBezTo>
                    <a:pt x="18664" y="4093"/>
                    <a:pt x="28545" y="0"/>
                    <a:pt x="38849" y="0"/>
                  </a:cubicBezTo>
                  <a:close/>
                </a:path>
              </a:pathLst>
            </a:custGeom>
            <a:blipFill>
              <a:blip r:embed="rId2"/>
              <a:stretch>
                <a:fillRect l="0" t="-63951" r="0" b="-63951"/>
              </a:stretch>
            </a:blipFill>
          </p:spPr>
        </p:sp>
      </p:grpSp>
      <p:sp>
        <p:nvSpPr>
          <p:cNvPr name="Freeform 10" id="10"/>
          <p:cNvSpPr/>
          <p:nvPr/>
        </p:nvSpPr>
        <p:spPr>
          <a:xfrm flipH="false" flipV="false" rot="0">
            <a:off x="16371547" y="-660904"/>
            <a:ext cx="2242323" cy="2242323"/>
          </a:xfrm>
          <a:custGeom>
            <a:avLst/>
            <a:gdLst/>
            <a:ahLst/>
            <a:cxnLst/>
            <a:rect r="r" b="b" t="t" l="l"/>
            <a:pathLst>
              <a:path h="2242323" w="2242323">
                <a:moveTo>
                  <a:pt x="0" y="0"/>
                </a:moveTo>
                <a:lnTo>
                  <a:pt x="2242323" y="0"/>
                </a:lnTo>
                <a:lnTo>
                  <a:pt x="2242323" y="2242323"/>
                </a:lnTo>
                <a:lnTo>
                  <a:pt x="0" y="22423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5400000">
            <a:off x="1802332" y="321743"/>
            <a:ext cx="281113" cy="1828376"/>
          </a:xfrm>
          <a:custGeom>
            <a:avLst/>
            <a:gdLst/>
            <a:ahLst/>
            <a:cxnLst/>
            <a:rect r="r" b="b" t="t" l="l"/>
            <a:pathLst>
              <a:path h="1828376" w="281113">
                <a:moveTo>
                  <a:pt x="0" y="0"/>
                </a:moveTo>
                <a:lnTo>
                  <a:pt x="281112" y="0"/>
                </a:lnTo>
                <a:lnTo>
                  <a:pt x="281112" y="1828376"/>
                </a:lnTo>
                <a:lnTo>
                  <a:pt x="0" y="18283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6418829" y="1737361"/>
            <a:ext cx="9711837" cy="1171574"/>
          </a:xfrm>
          <a:prstGeom prst="rect">
            <a:avLst/>
          </a:prstGeom>
        </p:spPr>
        <p:txBody>
          <a:bodyPr anchor="t" rtlCol="false" tIns="0" lIns="0" bIns="0" rIns="0">
            <a:spAutoFit/>
          </a:bodyPr>
          <a:lstStyle/>
          <a:p>
            <a:pPr algn="r">
              <a:lnSpc>
                <a:spcPts val="9375"/>
              </a:lnSpc>
            </a:pPr>
            <a:r>
              <a:rPr lang="en-US" b="true" sz="7500">
                <a:solidFill>
                  <a:srgbClr val="FFFFFF"/>
                </a:solidFill>
                <a:latin typeface="Proxima Nova Heavy"/>
                <a:ea typeface="Proxima Nova Heavy"/>
                <a:cs typeface="Proxima Nova Heavy"/>
                <a:sym typeface="Proxima Nova Heavy"/>
              </a:rPr>
              <a:t>SAMPLING </a:t>
            </a:r>
          </a:p>
        </p:txBody>
      </p:sp>
      <p:sp>
        <p:nvSpPr>
          <p:cNvPr name="TextBox 13" id="13"/>
          <p:cNvSpPr txBox="true"/>
          <p:nvPr/>
        </p:nvSpPr>
        <p:spPr>
          <a:xfrm rot="0">
            <a:off x="629951" y="5080873"/>
            <a:ext cx="14233685" cy="500380"/>
          </a:xfrm>
          <a:prstGeom prst="rect">
            <a:avLst/>
          </a:prstGeom>
        </p:spPr>
        <p:txBody>
          <a:bodyPr anchor="t" rtlCol="false" tIns="0" lIns="0" bIns="0" rIns="0">
            <a:spAutoFit/>
          </a:bodyPr>
          <a:lstStyle/>
          <a:p>
            <a:pPr algn="just">
              <a:lnSpc>
                <a:spcPts val="3920"/>
              </a:lnSpc>
            </a:pPr>
            <a:r>
              <a:rPr lang="en-US" sz="2800" b="true">
                <a:solidFill>
                  <a:srgbClr val="000000"/>
                </a:solidFill>
                <a:latin typeface="Roboto Bold"/>
                <a:ea typeface="Roboto Bold"/>
                <a:cs typeface="Roboto Bold"/>
                <a:sym typeface="Roboto Bold"/>
              </a:rPr>
              <a:t>menggunakan python </a:t>
            </a:r>
          </a:p>
        </p:txBody>
      </p:sp>
      <p:sp>
        <p:nvSpPr>
          <p:cNvPr name="TextBox 14" id="14"/>
          <p:cNvSpPr txBox="true"/>
          <p:nvPr/>
        </p:nvSpPr>
        <p:spPr>
          <a:xfrm rot="0">
            <a:off x="796727" y="5977813"/>
            <a:ext cx="13488298" cy="1876728"/>
          </a:xfrm>
          <a:prstGeom prst="rect">
            <a:avLst/>
          </a:prstGeom>
        </p:spPr>
        <p:txBody>
          <a:bodyPr anchor="t" rtlCol="false" tIns="0" lIns="0" bIns="0" rIns="0">
            <a:spAutoFit/>
          </a:bodyPr>
          <a:lstStyle/>
          <a:p>
            <a:pPr algn="just">
              <a:lnSpc>
                <a:spcPts val="3714"/>
              </a:lnSpc>
            </a:pPr>
            <a:r>
              <a:rPr lang="en-US" sz="2653" b="true">
                <a:solidFill>
                  <a:srgbClr val="000000"/>
                </a:solidFill>
                <a:latin typeface="Roboto Bold"/>
                <a:ea typeface="Roboto Bold"/>
                <a:cs typeface="Roboto Bold"/>
                <a:sym typeface="Roboto Bold"/>
              </a:rPr>
              <a:t>pandas : membaca fiel exel</a:t>
            </a:r>
          </a:p>
          <a:p>
            <a:pPr algn="just">
              <a:lnSpc>
                <a:spcPts val="3714"/>
              </a:lnSpc>
            </a:pPr>
            <a:r>
              <a:rPr lang="en-US" sz="2653" b="true">
                <a:solidFill>
                  <a:srgbClr val="000000"/>
                </a:solidFill>
                <a:latin typeface="Roboto Bold"/>
                <a:ea typeface="Roboto Bold"/>
                <a:cs typeface="Roboto Bold"/>
                <a:sym typeface="Roboto Bold"/>
              </a:rPr>
              <a:t>numpy: menghitung menggunakan matematika</a:t>
            </a:r>
          </a:p>
          <a:p>
            <a:pPr algn="just">
              <a:lnSpc>
                <a:spcPts val="3714"/>
              </a:lnSpc>
            </a:pPr>
            <a:r>
              <a:rPr lang="en-US" sz="2653" b="true">
                <a:solidFill>
                  <a:srgbClr val="000000"/>
                </a:solidFill>
                <a:latin typeface="Roboto Bold"/>
                <a:ea typeface="Roboto Bold"/>
                <a:cs typeface="Roboto Bold"/>
                <a:sym typeface="Roboto Bold"/>
              </a:rPr>
              <a:t>seaborn (sns) &amp; matplotlib.pyplot (plt): visualisasi kde</a:t>
            </a:r>
          </a:p>
          <a:p>
            <a:pPr algn="just">
              <a:lnSpc>
                <a:spcPts val="3714"/>
              </a:lnSpc>
            </a:pPr>
            <a:r>
              <a:rPr lang="en-US" sz="2653" b="true">
                <a:solidFill>
                  <a:srgbClr val="000000"/>
                </a:solidFill>
                <a:latin typeface="Roboto Bold"/>
                <a:ea typeface="Roboto Bold"/>
                <a:cs typeface="Roboto Bold"/>
                <a:sym typeface="Roboto Bold"/>
              </a:rPr>
              <a:t>os: Digunakan untuk mengecek keberadaan file input secara otomatis.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2372A"/>
        </a:solidFill>
      </p:bgPr>
    </p:bg>
    <p:spTree>
      <p:nvGrpSpPr>
        <p:cNvPr id="1" name=""/>
        <p:cNvGrpSpPr/>
        <p:nvPr/>
      </p:nvGrpSpPr>
      <p:grpSpPr>
        <a:xfrm>
          <a:off x="0" y="0"/>
          <a:ext cx="0" cy="0"/>
          <a:chOff x="0" y="0"/>
          <a:chExt cx="0" cy="0"/>
        </a:xfrm>
      </p:grpSpPr>
      <p:grpSp>
        <p:nvGrpSpPr>
          <p:cNvPr name="Group 2" id="2"/>
          <p:cNvGrpSpPr/>
          <p:nvPr/>
        </p:nvGrpSpPr>
        <p:grpSpPr>
          <a:xfrm rot="0">
            <a:off x="-514350" y="9361839"/>
            <a:ext cx="19128220" cy="1157832"/>
            <a:chOff x="0" y="0"/>
            <a:chExt cx="5037885" cy="304943"/>
          </a:xfrm>
        </p:grpSpPr>
        <p:sp>
          <p:nvSpPr>
            <p:cNvPr name="Freeform 3" id="3"/>
            <p:cNvSpPr/>
            <p:nvPr/>
          </p:nvSpPr>
          <p:spPr>
            <a:xfrm flipH="false" flipV="false" rot="0">
              <a:off x="0" y="0"/>
              <a:ext cx="5037885" cy="304943"/>
            </a:xfrm>
            <a:custGeom>
              <a:avLst/>
              <a:gdLst/>
              <a:ahLst/>
              <a:cxnLst/>
              <a:rect r="r" b="b" t="t" l="l"/>
              <a:pathLst>
                <a:path h="304943" w="5037885">
                  <a:moveTo>
                    <a:pt x="0" y="0"/>
                  </a:moveTo>
                  <a:lnTo>
                    <a:pt x="5037885" y="0"/>
                  </a:lnTo>
                  <a:lnTo>
                    <a:pt x="5037885" y="304943"/>
                  </a:lnTo>
                  <a:lnTo>
                    <a:pt x="0" y="304943"/>
                  </a:lnTo>
                  <a:close/>
                </a:path>
              </a:pathLst>
            </a:custGeom>
            <a:solidFill>
              <a:srgbClr val="FFFFFF"/>
            </a:solidFill>
          </p:spPr>
        </p:sp>
        <p:sp>
          <p:nvSpPr>
            <p:cNvPr name="TextBox 4" id="4"/>
            <p:cNvSpPr txBox="true"/>
            <p:nvPr/>
          </p:nvSpPr>
          <p:spPr>
            <a:xfrm>
              <a:off x="0" y="-57150"/>
              <a:ext cx="5037885" cy="362093"/>
            </a:xfrm>
            <a:prstGeom prst="rect">
              <a:avLst/>
            </a:prstGeom>
          </p:spPr>
          <p:txBody>
            <a:bodyPr anchor="ctr" rtlCol="false" tIns="50800" lIns="50800" bIns="50800" rIns="50800"/>
            <a:lstStyle/>
            <a:p>
              <a:pPr algn="ctr">
                <a:lnSpc>
                  <a:spcPts val="3220"/>
                </a:lnSpc>
              </a:pPr>
            </a:p>
          </p:txBody>
        </p:sp>
      </p:grpSp>
      <p:grpSp>
        <p:nvGrpSpPr>
          <p:cNvPr name="Group 5" id="5"/>
          <p:cNvGrpSpPr/>
          <p:nvPr/>
        </p:nvGrpSpPr>
        <p:grpSpPr>
          <a:xfrm rot="0">
            <a:off x="0" y="4381682"/>
            <a:ext cx="15493588" cy="4066127"/>
            <a:chOff x="0" y="0"/>
            <a:chExt cx="4080616" cy="1070914"/>
          </a:xfrm>
        </p:grpSpPr>
        <p:sp>
          <p:nvSpPr>
            <p:cNvPr name="Freeform 6" id="6"/>
            <p:cNvSpPr/>
            <p:nvPr/>
          </p:nvSpPr>
          <p:spPr>
            <a:xfrm flipH="false" flipV="false" rot="0">
              <a:off x="0" y="0"/>
              <a:ext cx="4080616" cy="1070914"/>
            </a:xfrm>
            <a:custGeom>
              <a:avLst/>
              <a:gdLst/>
              <a:ahLst/>
              <a:cxnLst/>
              <a:rect r="r" b="b" t="t" l="l"/>
              <a:pathLst>
                <a:path h="1070914" w="4080616">
                  <a:moveTo>
                    <a:pt x="25484" y="0"/>
                  </a:moveTo>
                  <a:lnTo>
                    <a:pt x="4055132" y="0"/>
                  </a:lnTo>
                  <a:cubicBezTo>
                    <a:pt x="4061890" y="0"/>
                    <a:pt x="4068372" y="2685"/>
                    <a:pt x="4073152" y="7464"/>
                  </a:cubicBezTo>
                  <a:cubicBezTo>
                    <a:pt x="4077931" y="12243"/>
                    <a:pt x="4080616" y="18725"/>
                    <a:pt x="4080616" y="25484"/>
                  </a:cubicBezTo>
                  <a:lnTo>
                    <a:pt x="4080616" y="1045430"/>
                  </a:lnTo>
                  <a:cubicBezTo>
                    <a:pt x="4080616" y="1052189"/>
                    <a:pt x="4077931" y="1058671"/>
                    <a:pt x="4073152" y="1063450"/>
                  </a:cubicBezTo>
                  <a:cubicBezTo>
                    <a:pt x="4068372" y="1068229"/>
                    <a:pt x="4061890" y="1070914"/>
                    <a:pt x="4055132" y="1070914"/>
                  </a:cubicBezTo>
                  <a:lnTo>
                    <a:pt x="25484" y="1070914"/>
                  </a:lnTo>
                  <a:cubicBezTo>
                    <a:pt x="18725" y="1070914"/>
                    <a:pt x="12243" y="1068229"/>
                    <a:pt x="7464" y="1063450"/>
                  </a:cubicBezTo>
                  <a:cubicBezTo>
                    <a:pt x="2685" y="1058671"/>
                    <a:pt x="0" y="1052189"/>
                    <a:pt x="0" y="1045430"/>
                  </a:cubicBezTo>
                  <a:lnTo>
                    <a:pt x="0" y="25484"/>
                  </a:lnTo>
                  <a:cubicBezTo>
                    <a:pt x="0" y="18725"/>
                    <a:pt x="2685" y="12243"/>
                    <a:pt x="7464" y="7464"/>
                  </a:cubicBezTo>
                  <a:cubicBezTo>
                    <a:pt x="12243" y="2685"/>
                    <a:pt x="18725" y="0"/>
                    <a:pt x="25484" y="0"/>
                  </a:cubicBezTo>
                  <a:close/>
                </a:path>
              </a:pathLst>
            </a:custGeom>
            <a:solidFill>
              <a:srgbClr val="98D49A"/>
            </a:solidFill>
          </p:spPr>
        </p:sp>
        <p:sp>
          <p:nvSpPr>
            <p:cNvPr name="TextBox 7" id="7"/>
            <p:cNvSpPr txBox="true"/>
            <p:nvPr/>
          </p:nvSpPr>
          <p:spPr>
            <a:xfrm>
              <a:off x="0" y="-38100"/>
              <a:ext cx="4080616" cy="110901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67439" y="1765936"/>
            <a:ext cx="7971343" cy="2333624"/>
            <a:chOff x="0" y="0"/>
            <a:chExt cx="1234970" cy="361539"/>
          </a:xfrm>
        </p:grpSpPr>
        <p:sp>
          <p:nvSpPr>
            <p:cNvPr name="Freeform 9" id="9"/>
            <p:cNvSpPr/>
            <p:nvPr/>
          </p:nvSpPr>
          <p:spPr>
            <a:xfrm flipH="false" flipV="false" rot="0">
              <a:off x="0" y="0"/>
              <a:ext cx="1234970" cy="361539"/>
            </a:xfrm>
            <a:custGeom>
              <a:avLst/>
              <a:gdLst/>
              <a:ahLst/>
              <a:cxnLst/>
              <a:rect r="r" b="b" t="t" l="l"/>
              <a:pathLst>
                <a:path h="361539" w="1234970">
                  <a:moveTo>
                    <a:pt x="38849" y="0"/>
                  </a:moveTo>
                  <a:lnTo>
                    <a:pt x="1196121" y="0"/>
                  </a:lnTo>
                  <a:cubicBezTo>
                    <a:pt x="1206424" y="0"/>
                    <a:pt x="1216306" y="4093"/>
                    <a:pt x="1223591" y="11379"/>
                  </a:cubicBezTo>
                  <a:cubicBezTo>
                    <a:pt x="1230877" y="18664"/>
                    <a:pt x="1234970" y="28545"/>
                    <a:pt x="1234970" y="38849"/>
                  </a:cubicBezTo>
                  <a:lnTo>
                    <a:pt x="1234970" y="322691"/>
                  </a:lnTo>
                  <a:cubicBezTo>
                    <a:pt x="1234970" y="332994"/>
                    <a:pt x="1230877" y="342875"/>
                    <a:pt x="1223591" y="350161"/>
                  </a:cubicBezTo>
                  <a:cubicBezTo>
                    <a:pt x="1216306" y="357446"/>
                    <a:pt x="1206424" y="361539"/>
                    <a:pt x="1196121" y="361539"/>
                  </a:cubicBezTo>
                  <a:lnTo>
                    <a:pt x="38849" y="361539"/>
                  </a:lnTo>
                  <a:cubicBezTo>
                    <a:pt x="17393" y="361539"/>
                    <a:pt x="0" y="344146"/>
                    <a:pt x="0" y="322691"/>
                  </a:cubicBezTo>
                  <a:lnTo>
                    <a:pt x="0" y="38849"/>
                  </a:lnTo>
                  <a:cubicBezTo>
                    <a:pt x="0" y="28545"/>
                    <a:pt x="4093" y="18664"/>
                    <a:pt x="11379" y="11379"/>
                  </a:cubicBezTo>
                  <a:cubicBezTo>
                    <a:pt x="18664" y="4093"/>
                    <a:pt x="28545" y="0"/>
                    <a:pt x="38849" y="0"/>
                  </a:cubicBezTo>
                  <a:close/>
                </a:path>
              </a:pathLst>
            </a:custGeom>
            <a:blipFill>
              <a:blip r:embed="rId2"/>
              <a:stretch>
                <a:fillRect l="0" t="-63951" r="0" b="-63951"/>
              </a:stretch>
            </a:blipFill>
          </p:spPr>
        </p:sp>
      </p:grpSp>
      <p:sp>
        <p:nvSpPr>
          <p:cNvPr name="Freeform 10" id="10"/>
          <p:cNvSpPr/>
          <p:nvPr/>
        </p:nvSpPr>
        <p:spPr>
          <a:xfrm flipH="false" flipV="false" rot="0">
            <a:off x="16371547" y="-660904"/>
            <a:ext cx="2242323" cy="2242323"/>
          </a:xfrm>
          <a:custGeom>
            <a:avLst/>
            <a:gdLst/>
            <a:ahLst/>
            <a:cxnLst/>
            <a:rect r="r" b="b" t="t" l="l"/>
            <a:pathLst>
              <a:path h="2242323" w="2242323">
                <a:moveTo>
                  <a:pt x="0" y="0"/>
                </a:moveTo>
                <a:lnTo>
                  <a:pt x="2242323" y="0"/>
                </a:lnTo>
                <a:lnTo>
                  <a:pt x="2242323" y="2242323"/>
                </a:lnTo>
                <a:lnTo>
                  <a:pt x="0" y="22423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5400000">
            <a:off x="1802332" y="321743"/>
            <a:ext cx="281113" cy="1828376"/>
          </a:xfrm>
          <a:custGeom>
            <a:avLst/>
            <a:gdLst/>
            <a:ahLst/>
            <a:cxnLst/>
            <a:rect r="r" b="b" t="t" l="l"/>
            <a:pathLst>
              <a:path h="1828376" w="281113">
                <a:moveTo>
                  <a:pt x="0" y="0"/>
                </a:moveTo>
                <a:lnTo>
                  <a:pt x="281112" y="0"/>
                </a:lnTo>
                <a:lnTo>
                  <a:pt x="281112" y="1828376"/>
                </a:lnTo>
                <a:lnTo>
                  <a:pt x="0" y="18283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7780872" y="1737361"/>
            <a:ext cx="9711837" cy="1171574"/>
          </a:xfrm>
          <a:prstGeom prst="rect">
            <a:avLst/>
          </a:prstGeom>
        </p:spPr>
        <p:txBody>
          <a:bodyPr anchor="t" rtlCol="false" tIns="0" lIns="0" bIns="0" rIns="0">
            <a:spAutoFit/>
          </a:bodyPr>
          <a:lstStyle/>
          <a:p>
            <a:pPr algn="r">
              <a:lnSpc>
                <a:spcPts val="9375"/>
              </a:lnSpc>
            </a:pPr>
            <a:r>
              <a:rPr lang="en-US" b="true" sz="7500">
                <a:solidFill>
                  <a:srgbClr val="FFFFFF"/>
                </a:solidFill>
                <a:latin typeface="Proxima Nova Bold"/>
                <a:ea typeface="Proxima Nova Bold"/>
                <a:cs typeface="Proxima Nova Bold"/>
                <a:sym typeface="Proxima Nova Bold"/>
              </a:rPr>
              <a:t>ANLISIS HIPOTESA</a:t>
            </a:r>
          </a:p>
        </p:txBody>
      </p:sp>
      <p:sp>
        <p:nvSpPr>
          <p:cNvPr name="TextBox 13" id="13"/>
          <p:cNvSpPr txBox="true"/>
          <p:nvPr/>
        </p:nvSpPr>
        <p:spPr>
          <a:xfrm rot="0">
            <a:off x="259754" y="5076825"/>
            <a:ext cx="14898218" cy="2584356"/>
          </a:xfrm>
          <a:prstGeom prst="rect">
            <a:avLst/>
          </a:prstGeom>
        </p:spPr>
        <p:txBody>
          <a:bodyPr anchor="t" rtlCol="false" tIns="0" lIns="0" bIns="0" rIns="0">
            <a:spAutoFit/>
          </a:bodyPr>
          <a:lstStyle/>
          <a:p>
            <a:pPr algn="just">
              <a:lnSpc>
                <a:spcPts val="4103"/>
              </a:lnSpc>
            </a:pPr>
            <a:r>
              <a:rPr lang="en-US" sz="2930" b="true">
                <a:solidFill>
                  <a:srgbClr val="000000"/>
                </a:solidFill>
                <a:latin typeface="Roboto Bold"/>
                <a:ea typeface="Roboto Bold"/>
                <a:cs typeface="Roboto Bold"/>
                <a:sym typeface="Roboto Bold"/>
              </a:rPr>
              <a:t>Mayoritas pelanggan membeli barang dalam jumlah kecil (1–3 unit per transaksi), namun terdapat beberapa transaksi besar yang meningkatkan rata-rata penjualan. Produk yang paling menguntungkan berdasarkan revenue pada sampel adalah GIN + TONIC DIET METAL SIGN. Oleh karena itu perusahaan perlu memprioritaskan produk yang memberikan revenue tinggi dan menjaga ketersediaan stoknya."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2372A"/>
        </a:solidFill>
      </p:bgPr>
    </p:bg>
    <p:spTree>
      <p:nvGrpSpPr>
        <p:cNvPr id="1" name=""/>
        <p:cNvGrpSpPr/>
        <p:nvPr/>
      </p:nvGrpSpPr>
      <p:grpSpPr>
        <a:xfrm>
          <a:off x="0" y="0"/>
          <a:ext cx="0" cy="0"/>
          <a:chOff x="0" y="0"/>
          <a:chExt cx="0" cy="0"/>
        </a:xfrm>
      </p:grpSpPr>
      <p:grpSp>
        <p:nvGrpSpPr>
          <p:cNvPr name="Group 2" id="2"/>
          <p:cNvGrpSpPr/>
          <p:nvPr/>
        </p:nvGrpSpPr>
        <p:grpSpPr>
          <a:xfrm rot="0">
            <a:off x="-514350" y="9361839"/>
            <a:ext cx="19128220" cy="1157832"/>
            <a:chOff x="0" y="0"/>
            <a:chExt cx="5037885" cy="304943"/>
          </a:xfrm>
        </p:grpSpPr>
        <p:sp>
          <p:nvSpPr>
            <p:cNvPr name="Freeform 3" id="3"/>
            <p:cNvSpPr/>
            <p:nvPr/>
          </p:nvSpPr>
          <p:spPr>
            <a:xfrm flipH="false" flipV="false" rot="0">
              <a:off x="0" y="0"/>
              <a:ext cx="5037885" cy="304943"/>
            </a:xfrm>
            <a:custGeom>
              <a:avLst/>
              <a:gdLst/>
              <a:ahLst/>
              <a:cxnLst/>
              <a:rect r="r" b="b" t="t" l="l"/>
              <a:pathLst>
                <a:path h="304943" w="5037885">
                  <a:moveTo>
                    <a:pt x="0" y="0"/>
                  </a:moveTo>
                  <a:lnTo>
                    <a:pt x="5037885" y="0"/>
                  </a:lnTo>
                  <a:lnTo>
                    <a:pt x="5037885" y="304943"/>
                  </a:lnTo>
                  <a:lnTo>
                    <a:pt x="0" y="304943"/>
                  </a:lnTo>
                  <a:close/>
                </a:path>
              </a:pathLst>
            </a:custGeom>
            <a:solidFill>
              <a:srgbClr val="FFFFFF"/>
            </a:solidFill>
          </p:spPr>
        </p:sp>
        <p:sp>
          <p:nvSpPr>
            <p:cNvPr name="TextBox 4" id="4"/>
            <p:cNvSpPr txBox="true"/>
            <p:nvPr/>
          </p:nvSpPr>
          <p:spPr>
            <a:xfrm>
              <a:off x="0" y="-57150"/>
              <a:ext cx="5037885" cy="362093"/>
            </a:xfrm>
            <a:prstGeom prst="rect">
              <a:avLst/>
            </a:prstGeom>
          </p:spPr>
          <p:txBody>
            <a:bodyPr anchor="ctr" rtlCol="false" tIns="50800" lIns="50800" bIns="50800" rIns="50800"/>
            <a:lstStyle/>
            <a:p>
              <a:pPr algn="ctr">
                <a:lnSpc>
                  <a:spcPts val="3220"/>
                </a:lnSpc>
              </a:pPr>
            </a:p>
          </p:txBody>
        </p:sp>
      </p:grpSp>
      <p:grpSp>
        <p:nvGrpSpPr>
          <p:cNvPr name="Group 5" id="5"/>
          <p:cNvGrpSpPr/>
          <p:nvPr/>
        </p:nvGrpSpPr>
        <p:grpSpPr>
          <a:xfrm rot="0">
            <a:off x="-217179" y="2932748"/>
            <a:ext cx="17476479" cy="6874951"/>
            <a:chOff x="0" y="0"/>
            <a:chExt cx="4602859" cy="1810687"/>
          </a:xfrm>
        </p:grpSpPr>
        <p:sp>
          <p:nvSpPr>
            <p:cNvPr name="Freeform 6" id="6"/>
            <p:cNvSpPr/>
            <p:nvPr/>
          </p:nvSpPr>
          <p:spPr>
            <a:xfrm flipH="false" flipV="false" rot="0">
              <a:off x="0" y="0"/>
              <a:ext cx="4602859" cy="1810687"/>
            </a:xfrm>
            <a:custGeom>
              <a:avLst/>
              <a:gdLst/>
              <a:ahLst/>
              <a:cxnLst/>
              <a:rect r="r" b="b" t="t" l="l"/>
              <a:pathLst>
                <a:path h="1810687" w="4602859">
                  <a:moveTo>
                    <a:pt x="22593" y="0"/>
                  </a:moveTo>
                  <a:lnTo>
                    <a:pt x="4580266" y="0"/>
                  </a:lnTo>
                  <a:cubicBezTo>
                    <a:pt x="4586258" y="0"/>
                    <a:pt x="4592005" y="2380"/>
                    <a:pt x="4596242" y="6617"/>
                  </a:cubicBezTo>
                  <a:cubicBezTo>
                    <a:pt x="4600478" y="10854"/>
                    <a:pt x="4602859" y="16601"/>
                    <a:pt x="4602859" y="22593"/>
                  </a:cubicBezTo>
                  <a:lnTo>
                    <a:pt x="4602859" y="1788094"/>
                  </a:lnTo>
                  <a:cubicBezTo>
                    <a:pt x="4602859" y="1794086"/>
                    <a:pt x="4600478" y="1799832"/>
                    <a:pt x="4596242" y="1804069"/>
                  </a:cubicBezTo>
                  <a:cubicBezTo>
                    <a:pt x="4592005" y="1808306"/>
                    <a:pt x="4586258" y="1810687"/>
                    <a:pt x="4580266" y="1810687"/>
                  </a:cubicBezTo>
                  <a:lnTo>
                    <a:pt x="22593" y="1810687"/>
                  </a:lnTo>
                  <a:cubicBezTo>
                    <a:pt x="16601" y="1810687"/>
                    <a:pt x="10854" y="1808306"/>
                    <a:pt x="6617" y="1804069"/>
                  </a:cubicBezTo>
                  <a:cubicBezTo>
                    <a:pt x="2380" y="1799832"/>
                    <a:pt x="0" y="1794086"/>
                    <a:pt x="0" y="1788094"/>
                  </a:cubicBezTo>
                  <a:lnTo>
                    <a:pt x="0" y="22593"/>
                  </a:lnTo>
                  <a:cubicBezTo>
                    <a:pt x="0" y="16601"/>
                    <a:pt x="2380" y="10854"/>
                    <a:pt x="6617" y="6617"/>
                  </a:cubicBezTo>
                  <a:cubicBezTo>
                    <a:pt x="10854" y="2380"/>
                    <a:pt x="16601" y="0"/>
                    <a:pt x="22593" y="0"/>
                  </a:cubicBezTo>
                  <a:close/>
                </a:path>
              </a:pathLst>
            </a:custGeom>
            <a:solidFill>
              <a:srgbClr val="98D49A"/>
            </a:solidFill>
          </p:spPr>
        </p:sp>
        <p:sp>
          <p:nvSpPr>
            <p:cNvPr name="TextBox 7" id="7"/>
            <p:cNvSpPr txBox="true"/>
            <p:nvPr/>
          </p:nvSpPr>
          <p:spPr>
            <a:xfrm>
              <a:off x="0" y="-38100"/>
              <a:ext cx="4602859" cy="184878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409953" y="209676"/>
            <a:ext cx="7971343" cy="2333624"/>
            <a:chOff x="0" y="0"/>
            <a:chExt cx="1234970" cy="361539"/>
          </a:xfrm>
        </p:grpSpPr>
        <p:sp>
          <p:nvSpPr>
            <p:cNvPr name="Freeform 9" id="9"/>
            <p:cNvSpPr/>
            <p:nvPr/>
          </p:nvSpPr>
          <p:spPr>
            <a:xfrm flipH="false" flipV="false" rot="0">
              <a:off x="0" y="0"/>
              <a:ext cx="1234970" cy="361539"/>
            </a:xfrm>
            <a:custGeom>
              <a:avLst/>
              <a:gdLst/>
              <a:ahLst/>
              <a:cxnLst/>
              <a:rect r="r" b="b" t="t" l="l"/>
              <a:pathLst>
                <a:path h="361539" w="1234970">
                  <a:moveTo>
                    <a:pt x="38849" y="0"/>
                  </a:moveTo>
                  <a:lnTo>
                    <a:pt x="1196121" y="0"/>
                  </a:lnTo>
                  <a:cubicBezTo>
                    <a:pt x="1206424" y="0"/>
                    <a:pt x="1216306" y="4093"/>
                    <a:pt x="1223591" y="11379"/>
                  </a:cubicBezTo>
                  <a:cubicBezTo>
                    <a:pt x="1230877" y="18664"/>
                    <a:pt x="1234970" y="28545"/>
                    <a:pt x="1234970" y="38849"/>
                  </a:cubicBezTo>
                  <a:lnTo>
                    <a:pt x="1234970" y="322691"/>
                  </a:lnTo>
                  <a:cubicBezTo>
                    <a:pt x="1234970" y="332994"/>
                    <a:pt x="1230877" y="342875"/>
                    <a:pt x="1223591" y="350161"/>
                  </a:cubicBezTo>
                  <a:cubicBezTo>
                    <a:pt x="1216306" y="357446"/>
                    <a:pt x="1206424" y="361539"/>
                    <a:pt x="1196121" y="361539"/>
                  </a:cubicBezTo>
                  <a:lnTo>
                    <a:pt x="38849" y="361539"/>
                  </a:lnTo>
                  <a:cubicBezTo>
                    <a:pt x="17393" y="361539"/>
                    <a:pt x="0" y="344146"/>
                    <a:pt x="0" y="322691"/>
                  </a:cubicBezTo>
                  <a:lnTo>
                    <a:pt x="0" y="38849"/>
                  </a:lnTo>
                  <a:cubicBezTo>
                    <a:pt x="0" y="28545"/>
                    <a:pt x="4093" y="18664"/>
                    <a:pt x="11379" y="11379"/>
                  </a:cubicBezTo>
                  <a:cubicBezTo>
                    <a:pt x="18664" y="4093"/>
                    <a:pt x="28545" y="0"/>
                    <a:pt x="38849" y="0"/>
                  </a:cubicBezTo>
                  <a:close/>
                </a:path>
              </a:pathLst>
            </a:custGeom>
            <a:blipFill>
              <a:blip r:embed="rId2"/>
              <a:stretch>
                <a:fillRect l="0" t="-63951" r="0" b="-63951"/>
              </a:stretch>
            </a:blipFill>
          </p:spPr>
        </p:sp>
      </p:grpSp>
      <p:sp>
        <p:nvSpPr>
          <p:cNvPr name="Freeform 10" id="10"/>
          <p:cNvSpPr/>
          <p:nvPr/>
        </p:nvSpPr>
        <p:spPr>
          <a:xfrm flipH="false" flipV="false" rot="0">
            <a:off x="16371547" y="-660904"/>
            <a:ext cx="2242323" cy="2242323"/>
          </a:xfrm>
          <a:custGeom>
            <a:avLst/>
            <a:gdLst/>
            <a:ahLst/>
            <a:cxnLst/>
            <a:rect r="r" b="b" t="t" l="l"/>
            <a:pathLst>
              <a:path h="2242323" w="2242323">
                <a:moveTo>
                  <a:pt x="0" y="0"/>
                </a:moveTo>
                <a:lnTo>
                  <a:pt x="2242323" y="0"/>
                </a:lnTo>
                <a:lnTo>
                  <a:pt x="2242323" y="2242323"/>
                </a:lnTo>
                <a:lnTo>
                  <a:pt x="0" y="22423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5400000">
            <a:off x="1802332" y="321743"/>
            <a:ext cx="281113" cy="1828376"/>
          </a:xfrm>
          <a:custGeom>
            <a:avLst/>
            <a:gdLst/>
            <a:ahLst/>
            <a:cxnLst/>
            <a:rect r="r" b="b" t="t" l="l"/>
            <a:pathLst>
              <a:path h="1828376" w="281113">
                <a:moveTo>
                  <a:pt x="0" y="0"/>
                </a:moveTo>
                <a:lnTo>
                  <a:pt x="281112" y="0"/>
                </a:lnTo>
                <a:lnTo>
                  <a:pt x="281112" y="1828376"/>
                </a:lnTo>
                <a:lnTo>
                  <a:pt x="0" y="18283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7780872" y="1737361"/>
            <a:ext cx="9711837" cy="2362199"/>
          </a:xfrm>
          <a:prstGeom prst="rect">
            <a:avLst/>
          </a:prstGeom>
        </p:spPr>
        <p:txBody>
          <a:bodyPr anchor="t" rtlCol="false" tIns="0" lIns="0" bIns="0" rIns="0">
            <a:spAutoFit/>
          </a:bodyPr>
          <a:lstStyle/>
          <a:p>
            <a:pPr algn="r">
              <a:lnSpc>
                <a:spcPts val="9375"/>
              </a:lnSpc>
            </a:pPr>
            <a:r>
              <a:rPr lang="en-US" b="true" sz="7500">
                <a:solidFill>
                  <a:srgbClr val="FFFFFF"/>
                </a:solidFill>
                <a:latin typeface="Proxima Nova Bold"/>
                <a:ea typeface="Proxima Nova Bold"/>
                <a:cs typeface="Proxima Nova Bold"/>
                <a:sym typeface="Proxima Nova Bold"/>
              </a:rPr>
              <a:t>PEMBUKTIAN HIPOTESA</a:t>
            </a:r>
          </a:p>
        </p:txBody>
      </p:sp>
      <p:sp>
        <p:nvSpPr>
          <p:cNvPr name="TextBox 13" id="13"/>
          <p:cNvSpPr txBox="true"/>
          <p:nvPr/>
        </p:nvSpPr>
        <p:spPr>
          <a:xfrm rot="0">
            <a:off x="606548" y="3104205"/>
            <a:ext cx="15829024" cy="6154095"/>
          </a:xfrm>
          <a:prstGeom prst="rect">
            <a:avLst/>
          </a:prstGeom>
        </p:spPr>
        <p:txBody>
          <a:bodyPr anchor="t" rtlCol="false" tIns="0" lIns="0" bIns="0" rIns="0">
            <a:spAutoFit/>
          </a:bodyPr>
          <a:lstStyle/>
          <a:p>
            <a:pPr algn="just">
              <a:lnSpc>
                <a:spcPts val="2320"/>
              </a:lnSpc>
            </a:pPr>
            <a:r>
              <a:rPr lang="en-US" sz="1657" b="true">
                <a:solidFill>
                  <a:srgbClr val="000000"/>
                </a:solidFill>
                <a:latin typeface="Roboto Bold"/>
                <a:ea typeface="Roboto Bold"/>
                <a:cs typeface="Roboto Bold"/>
                <a:sym typeface="Roboto Bold"/>
              </a:rPr>
              <a:t>Bisa. Berdasarkan data yang kamu kirim, kita gunakan:</a:t>
            </a:r>
          </a:p>
          <a:p>
            <a:pPr algn="just">
              <a:lnSpc>
                <a:spcPts val="2320"/>
              </a:lnSpc>
            </a:pPr>
            <a:r>
              <a:rPr lang="en-US" sz="1657" b="true">
                <a:solidFill>
                  <a:srgbClr val="000000"/>
                </a:solidFill>
                <a:latin typeface="Roboto Bold"/>
                <a:ea typeface="Roboto Bold"/>
                <a:cs typeface="Roboto Bold"/>
                <a:sym typeface="Roboto Bold"/>
              </a:rPr>
              <a:t>X = Quantity (jumlah barang yang dibeli)</a:t>
            </a:r>
          </a:p>
          <a:p>
            <a:pPr algn="just">
              <a:lnSpc>
                <a:spcPts val="2320"/>
              </a:lnSpc>
            </a:pPr>
            <a:r>
              <a:rPr lang="en-US" sz="1657" b="true">
                <a:solidFill>
                  <a:srgbClr val="000000"/>
                </a:solidFill>
                <a:latin typeface="Roboto Bold"/>
                <a:ea typeface="Roboto Bold"/>
                <a:cs typeface="Roboto Bold"/>
                <a:sym typeface="Roboto Bold"/>
              </a:rPr>
              <a:t>Y = Nilai transaksi = Quantity × UnitPrice</a:t>
            </a:r>
          </a:p>
          <a:p>
            <a:pPr algn="just">
              <a:lnSpc>
                <a:spcPts val="2320"/>
              </a:lnSpc>
            </a:pPr>
            <a:r>
              <a:rPr lang="en-US" sz="1657" b="true">
                <a:solidFill>
                  <a:srgbClr val="000000"/>
                </a:solidFill>
                <a:latin typeface="Roboto Bold"/>
                <a:ea typeface="Roboto Bold"/>
                <a:cs typeface="Roboto Bold"/>
                <a:sym typeface="Roboto Bold"/>
              </a:rPr>
              <a:t>Hipotesis</a:t>
            </a:r>
          </a:p>
          <a:p>
            <a:pPr algn="just">
              <a:lnSpc>
                <a:spcPts val="2320"/>
              </a:lnSpc>
            </a:pPr>
            <a:r>
              <a:rPr lang="en-US" sz="1657" b="true">
                <a:solidFill>
                  <a:srgbClr val="000000"/>
                </a:solidFill>
                <a:latin typeface="Roboto Bold"/>
                <a:ea typeface="Roboto Bold"/>
                <a:cs typeface="Roboto Bold"/>
                <a:sym typeface="Roboto Bold"/>
              </a:rPr>
              <a:t>H₀: Jumlah barang yang dibeli tidak berpengaruh signifikan terhadap nilai transaksi penjualan.</a:t>
            </a:r>
          </a:p>
          <a:p>
            <a:pPr algn="just">
              <a:lnSpc>
                <a:spcPts val="2320"/>
              </a:lnSpc>
            </a:pPr>
            <a:r>
              <a:rPr lang="en-US" sz="1657" b="true">
                <a:solidFill>
                  <a:srgbClr val="000000"/>
                </a:solidFill>
                <a:latin typeface="Roboto Bold"/>
                <a:ea typeface="Roboto Bold"/>
                <a:cs typeface="Roboto Bold"/>
                <a:sym typeface="Roboto Bold"/>
              </a:rPr>
              <a:t>H₁: Jumlah barang yang dibeli berpengaruh signifikan terhadap nilai transaksi penjualan.</a:t>
            </a:r>
          </a:p>
          <a:p>
            <a:pPr algn="just">
              <a:lnSpc>
                <a:spcPts val="2320"/>
              </a:lnSpc>
            </a:pPr>
            <a:r>
              <a:rPr lang="en-US" sz="1657" b="true">
                <a:solidFill>
                  <a:srgbClr val="000000"/>
                </a:solidFill>
                <a:latin typeface="Roboto Bold"/>
                <a:ea typeface="Roboto Bold"/>
                <a:cs typeface="Roboto Bold"/>
                <a:sym typeface="Roboto Bold"/>
              </a:rPr>
              <a:t>Pembuktian Hipotesis</a:t>
            </a:r>
          </a:p>
          <a:p>
            <a:pPr algn="just">
              <a:lnSpc>
                <a:spcPts val="2320"/>
              </a:lnSpc>
            </a:pPr>
            <a:r>
              <a:rPr lang="en-US" sz="1657" b="true">
                <a:solidFill>
                  <a:srgbClr val="000000"/>
                </a:solidFill>
                <a:latin typeface="Roboto Bold"/>
                <a:ea typeface="Roboto Bold"/>
                <a:cs typeface="Roboto Bold"/>
                <a:sym typeface="Roboto Bold"/>
              </a:rPr>
              <a:t>Dari perhitungan pada data yang kamu kirim:</a:t>
            </a:r>
          </a:p>
          <a:p>
            <a:pPr algn="just">
              <a:lnSpc>
                <a:spcPts val="2320"/>
              </a:lnSpc>
            </a:pPr>
            <a:r>
              <a:rPr lang="en-US" sz="1657" b="true">
                <a:solidFill>
                  <a:srgbClr val="000000"/>
                </a:solidFill>
                <a:latin typeface="Roboto Bold"/>
                <a:ea typeface="Roboto Bold"/>
                <a:cs typeface="Roboto Bold"/>
                <a:sym typeface="Roboto Bold"/>
              </a:rPr>
              <a:t>Koefisien korelasi (r) ≈ 0,887</a:t>
            </a:r>
          </a:p>
          <a:p>
            <a:pPr algn="just">
              <a:lnSpc>
                <a:spcPts val="2320"/>
              </a:lnSpc>
            </a:pPr>
            <a:r>
              <a:rPr lang="en-US" sz="1657" b="true">
                <a:solidFill>
                  <a:srgbClr val="000000"/>
                </a:solidFill>
                <a:latin typeface="Roboto Bold"/>
                <a:ea typeface="Roboto Bold"/>
                <a:cs typeface="Roboto Bold"/>
                <a:sym typeface="Roboto Bold"/>
              </a:rPr>
              <a:t>Nilai p (p-value) ≈ 0,000</a:t>
            </a:r>
          </a:p>
          <a:p>
            <a:pPr algn="just">
              <a:lnSpc>
                <a:spcPts val="2320"/>
              </a:lnSpc>
            </a:pPr>
            <a:r>
              <a:rPr lang="en-US" sz="1657" b="true">
                <a:solidFill>
                  <a:srgbClr val="000000"/>
                </a:solidFill>
                <a:latin typeface="Roboto Bold"/>
                <a:ea typeface="Roboto Bold"/>
                <a:cs typeface="Roboto Bold"/>
                <a:sym typeface="Roboto Bold"/>
              </a:rPr>
              <a:t>Keputusan</a:t>
            </a:r>
          </a:p>
          <a:p>
            <a:pPr algn="just">
              <a:lnSpc>
                <a:spcPts val="2320"/>
              </a:lnSpc>
            </a:pPr>
            <a:r>
              <a:rPr lang="en-US" sz="1657" b="true">
                <a:solidFill>
                  <a:srgbClr val="000000"/>
                </a:solidFill>
                <a:latin typeface="Roboto Bold"/>
                <a:ea typeface="Roboto Bold"/>
                <a:cs typeface="Roboto Bold"/>
                <a:sym typeface="Roboto Bold"/>
              </a:rPr>
              <a:t>Karena:</a:t>
            </a:r>
          </a:p>
          <a:p>
            <a:pPr algn="just">
              <a:lnSpc>
                <a:spcPts val="2320"/>
              </a:lnSpc>
            </a:pPr>
            <a:r>
              <a:rPr lang="en-US" sz="1657" b="true">
                <a:solidFill>
                  <a:srgbClr val="000000"/>
                </a:solidFill>
                <a:latin typeface="Roboto Bold"/>
                <a:ea typeface="Roboto Bold"/>
                <a:cs typeface="Roboto Bold"/>
                <a:sym typeface="Roboto Bold"/>
              </a:rPr>
              <a:t>p-value = 0,000 &lt; 0,05</a:t>
            </a:r>
          </a:p>
          <a:p>
            <a:pPr algn="just">
              <a:lnSpc>
                <a:spcPts val="2320"/>
              </a:lnSpc>
            </a:pPr>
            <a:r>
              <a:rPr lang="en-US" sz="1657" b="true">
                <a:solidFill>
                  <a:srgbClr val="000000"/>
                </a:solidFill>
                <a:latin typeface="Roboto Bold"/>
                <a:ea typeface="Roboto Bold"/>
                <a:cs typeface="Roboto Bold"/>
                <a:sym typeface="Roboto Bold"/>
              </a:rPr>
              <a:t>maka H₀ ditolak dan H₁ diterima.</a:t>
            </a:r>
          </a:p>
          <a:p>
            <a:pPr algn="just">
              <a:lnSpc>
                <a:spcPts val="2320"/>
              </a:lnSpc>
            </a:pPr>
            <a:r>
              <a:rPr lang="en-US" sz="1657" b="true">
                <a:solidFill>
                  <a:srgbClr val="000000"/>
                </a:solidFill>
                <a:latin typeface="Roboto Bold"/>
                <a:ea typeface="Roboto Bold"/>
                <a:cs typeface="Roboto Bold"/>
                <a:sym typeface="Roboto Bold"/>
              </a:rPr>
              <a:t>Kesimpulan</a:t>
            </a:r>
          </a:p>
          <a:p>
            <a:pPr algn="just">
              <a:lnSpc>
                <a:spcPts val="2320"/>
              </a:lnSpc>
            </a:pPr>
            <a:r>
              <a:rPr lang="en-US" sz="1657" b="true">
                <a:solidFill>
                  <a:srgbClr val="000000"/>
                </a:solidFill>
                <a:latin typeface="Roboto Bold"/>
                <a:ea typeface="Roboto Bold"/>
                <a:cs typeface="Roboto Bold"/>
                <a:sym typeface="Roboto Bold"/>
              </a:rPr>
              <a:t>Terdapat pengaruh yang signifikan antara jumlah barang yang dibeli (Quantity) terhadap nilai transaksi penjualan. Nilai korelasi sebesar 0,887 menunjukkan hubungan positif yang sangat kuat, sehingga semakin banyak jumlah barang yang dibeli, semakin besar nilai transaksi penjualan.</a:t>
            </a:r>
          </a:p>
          <a:p>
            <a:pPr algn="just">
              <a:lnSpc>
                <a:spcPts val="2320"/>
              </a:lnSpc>
            </a:pPr>
            <a:r>
              <a:rPr lang="en-US" sz="1657" b="true">
                <a:solidFill>
                  <a:srgbClr val="000000"/>
                </a:solidFill>
                <a:latin typeface="Roboto Bold"/>
                <a:ea typeface="Roboto Bold"/>
                <a:cs typeface="Roboto Bold"/>
                <a:sym typeface="Roboto Bold"/>
              </a:rPr>
              <a:t>Kamu bisa langsung menulis di laporan:</a:t>
            </a:r>
          </a:p>
          <a:p>
            <a:pPr algn="just">
              <a:lnSpc>
                <a:spcPts val="2320"/>
              </a:lnSpc>
            </a:pPr>
            <a:r>
              <a:rPr lang="en-US" sz="1657" b="true">
                <a:solidFill>
                  <a:srgbClr val="000000"/>
                </a:solidFill>
                <a:latin typeface="Roboto Bold"/>
                <a:ea typeface="Roboto Bold"/>
                <a:cs typeface="Roboto Bold"/>
                <a:sym typeface="Roboto Bold"/>
              </a:rPr>
              <a:t>Berdasarkan hasil uji korelasi, diperoleh nilai koefisien korelasi sebesar 0,887 dengan nilai signifikansi (p-value) sebesar 0,000. Karena p-value &lt; 0,05, maka H₀ ditolak dan H₁ diterima. Dengan demikian, jumlah barang yang dibeli (Quantity) berpengaruh signifikan terhadap nilai transaksi penjualan. Hubungan yang terjadi bersifat positif dan sangat kuat.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2372A"/>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34345" y="7171604"/>
            <a:ext cx="1146175" cy="3027217"/>
          </a:xfrm>
          <a:custGeom>
            <a:avLst/>
            <a:gdLst/>
            <a:ahLst/>
            <a:cxnLst/>
            <a:rect r="r" b="b" t="t" l="l"/>
            <a:pathLst>
              <a:path h="3027217" w="1146175">
                <a:moveTo>
                  <a:pt x="0" y="0"/>
                </a:moveTo>
                <a:lnTo>
                  <a:pt x="1146175" y="0"/>
                </a:lnTo>
                <a:lnTo>
                  <a:pt x="1146175" y="3027217"/>
                </a:lnTo>
                <a:lnTo>
                  <a:pt x="0" y="3027217"/>
                </a:lnTo>
                <a:lnTo>
                  <a:pt x="0" y="0"/>
                </a:lnTo>
                <a:close/>
              </a:path>
            </a:pathLst>
          </a:custGeom>
          <a:blipFill>
            <a:blip r:embed="rId2">
              <a:extLst>
                <a:ext uri="{96DAC541-7B7A-43D3-8B79-37D633B846F1}">
                  <asvg:svgBlip xmlns:asvg="http://schemas.microsoft.com/office/drawing/2016/SVG/main" r:embed="rId3"/>
                </a:ext>
              </a:extLst>
            </a:blip>
            <a:stretch>
              <a:fillRect l="0" t="-467" r="-32674" b="0"/>
            </a:stretch>
          </a:blipFill>
        </p:spPr>
      </p:sp>
      <p:sp>
        <p:nvSpPr>
          <p:cNvPr name="Freeform 3" id="3"/>
          <p:cNvSpPr/>
          <p:nvPr/>
        </p:nvSpPr>
        <p:spPr>
          <a:xfrm flipH="false" flipV="false" rot="-5400000">
            <a:off x="16831150" y="7171604"/>
            <a:ext cx="1146175" cy="3027217"/>
          </a:xfrm>
          <a:custGeom>
            <a:avLst/>
            <a:gdLst/>
            <a:ahLst/>
            <a:cxnLst/>
            <a:rect r="r" b="b" t="t" l="l"/>
            <a:pathLst>
              <a:path h="3027217" w="1146175">
                <a:moveTo>
                  <a:pt x="0" y="0"/>
                </a:moveTo>
                <a:lnTo>
                  <a:pt x="1146175" y="0"/>
                </a:lnTo>
                <a:lnTo>
                  <a:pt x="1146175" y="3027217"/>
                </a:lnTo>
                <a:lnTo>
                  <a:pt x="0" y="3027217"/>
                </a:lnTo>
                <a:lnTo>
                  <a:pt x="0" y="0"/>
                </a:lnTo>
                <a:close/>
              </a:path>
            </a:pathLst>
          </a:custGeom>
          <a:blipFill>
            <a:blip r:embed="rId2">
              <a:extLst>
                <a:ext uri="{96DAC541-7B7A-43D3-8B79-37D633B846F1}">
                  <asvg:svgBlip xmlns:asvg="http://schemas.microsoft.com/office/drawing/2016/SVG/main" r:embed="rId3"/>
                </a:ext>
              </a:extLst>
            </a:blip>
            <a:stretch>
              <a:fillRect l="0" t="-467" r="-32674" b="0"/>
            </a:stretch>
          </a:blipFill>
        </p:spPr>
      </p:sp>
      <p:grpSp>
        <p:nvGrpSpPr>
          <p:cNvPr name="Group 4" id="4"/>
          <p:cNvGrpSpPr/>
          <p:nvPr/>
        </p:nvGrpSpPr>
        <p:grpSpPr>
          <a:xfrm rot="0">
            <a:off x="585726" y="3364885"/>
            <a:ext cx="17116548" cy="5893415"/>
            <a:chOff x="0" y="0"/>
            <a:chExt cx="4508062" cy="1552175"/>
          </a:xfrm>
        </p:grpSpPr>
        <p:sp>
          <p:nvSpPr>
            <p:cNvPr name="Freeform 5" id="5"/>
            <p:cNvSpPr/>
            <p:nvPr/>
          </p:nvSpPr>
          <p:spPr>
            <a:xfrm flipH="false" flipV="false" rot="0">
              <a:off x="0" y="0"/>
              <a:ext cx="4508062" cy="1552175"/>
            </a:xfrm>
            <a:custGeom>
              <a:avLst/>
              <a:gdLst/>
              <a:ahLst/>
              <a:cxnLst/>
              <a:rect r="r" b="b" t="t" l="l"/>
              <a:pathLst>
                <a:path h="1552175" w="4508062">
                  <a:moveTo>
                    <a:pt x="23068" y="0"/>
                  </a:moveTo>
                  <a:lnTo>
                    <a:pt x="4484994" y="0"/>
                  </a:lnTo>
                  <a:cubicBezTo>
                    <a:pt x="4491112" y="0"/>
                    <a:pt x="4496980" y="2430"/>
                    <a:pt x="4501306" y="6756"/>
                  </a:cubicBezTo>
                  <a:cubicBezTo>
                    <a:pt x="4505632" y="11082"/>
                    <a:pt x="4508062" y="16950"/>
                    <a:pt x="4508062" y="23068"/>
                  </a:cubicBezTo>
                  <a:lnTo>
                    <a:pt x="4508062" y="1529108"/>
                  </a:lnTo>
                  <a:cubicBezTo>
                    <a:pt x="4508062" y="1541847"/>
                    <a:pt x="4497734" y="1552175"/>
                    <a:pt x="4484994" y="1552175"/>
                  </a:cubicBezTo>
                  <a:lnTo>
                    <a:pt x="23068" y="1552175"/>
                  </a:lnTo>
                  <a:cubicBezTo>
                    <a:pt x="10328" y="1552175"/>
                    <a:pt x="0" y="1541847"/>
                    <a:pt x="0" y="1529108"/>
                  </a:cubicBezTo>
                  <a:lnTo>
                    <a:pt x="0" y="23068"/>
                  </a:lnTo>
                  <a:cubicBezTo>
                    <a:pt x="0" y="10328"/>
                    <a:pt x="10328" y="0"/>
                    <a:pt x="23068" y="0"/>
                  </a:cubicBezTo>
                  <a:close/>
                </a:path>
              </a:pathLst>
            </a:custGeom>
            <a:solidFill>
              <a:srgbClr val="98D49A"/>
            </a:solidFill>
          </p:spPr>
        </p:sp>
        <p:sp>
          <p:nvSpPr>
            <p:cNvPr name="TextBox 6" id="6"/>
            <p:cNvSpPr txBox="true"/>
            <p:nvPr/>
          </p:nvSpPr>
          <p:spPr>
            <a:xfrm>
              <a:off x="0" y="-38100"/>
              <a:ext cx="4508062" cy="1590275"/>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4284474" y="5552654"/>
            <a:ext cx="802513" cy="802513"/>
          </a:xfrm>
          <a:custGeom>
            <a:avLst/>
            <a:gdLst/>
            <a:ahLst/>
            <a:cxnLst/>
            <a:rect r="r" b="b" t="t" l="l"/>
            <a:pathLst>
              <a:path h="802513" w="802513">
                <a:moveTo>
                  <a:pt x="0" y="0"/>
                </a:moveTo>
                <a:lnTo>
                  <a:pt x="802513" y="0"/>
                </a:lnTo>
                <a:lnTo>
                  <a:pt x="802513" y="802513"/>
                </a:lnTo>
                <a:lnTo>
                  <a:pt x="0" y="8025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14451515" y="5143500"/>
            <a:ext cx="1439114" cy="1439114"/>
          </a:xfrm>
          <a:custGeom>
            <a:avLst/>
            <a:gdLst/>
            <a:ahLst/>
            <a:cxnLst/>
            <a:rect r="r" b="b" t="t" l="l"/>
            <a:pathLst>
              <a:path h="1439114" w="1439114">
                <a:moveTo>
                  <a:pt x="1439114" y="0"/>
                </a:moveTo>
                <a:lnTo>
                  <a:pt x="0" y="0"/>
                </a:lnTo>
                <a:lnTo>
                  <a:pt x="0" y="1439114"/>
                </a:lnTo>
                <a:lnTo>
                  <a:pt x="1439114" y="1439114"/>
                </a:lnTo>
                <a:lnTo>
                  <a:pt x="143911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2153051" y="7155759"/>
            <a:ext cx="267990" cy="1743028"/>
          </a:xfrm>
          <a:custGeom>
            <a:avLst/>
            <a:gdLst/>
            <a:ahLst/>
            <a:cxnLst/>
            <a:rect r="r" b="b" t="t" l="l"/>
            <a:pathLst>
              <a:path h="1743028" w="267990">
                <a:moveTo>
                  <a:pt x="0" y="0"/>
                </a:moveTo>
                <a:lnTo>
                  <a:pt x="267990" y="0"/>
                </a:lnTo>
                <a:lnTo>
                  <a:pt x="267990" y="1743027"/>
                </a:lnTo>
                <a:lnTo>
                  <a:pt x="0" y="17430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48609" y="7155759"/>
            <a:ext cx="684290" cy="1807312"/>
          </a:xfrm>
          <a:custGeom>
            <a:avLst/>
            <a:gdLst/>
            <a:ahLst/>
            <a:cxnLst/>
            <a:rect r="r" b="b" t="t" l="l"/>
            <a:pathLst>
              <a:path h="1807312" w="684290">
                <a:moveTo>
                  <a:pt x="0" y="0"/>
                </a:moveTo>
                <a:lnTo>
                  <a:pt x="684290" y="0"/>
                </a:lnTo>
                <a:lnTo>
                  <a:pt x="684290" y="1807312"/>
                </a:lnTo>
                <a:lnTo>
                  <a:pt x="0" y="1807312"/>
                </a:lnTo>
                <a:lnTo>
                  <a:pt x="0" y="0"/>
                </a:lnTo>
                <a:close/>
              </a:path>
            </a:pathLst>
          </a:custGeom>
          <a:blipFill>
            <a:blip r:embed="rId10">
              <a:extLst>
                <a:ext uri="{96DAC541-7B7A-43D3-8B79-37D633B846F1}">
                  <asvg:svgBlip xmlns:asvg="http://schemas.microsoft.com/office/drawing/2016/SVG/main" r:embed="rId11"/>
                </a:ext>
              </a:extLst>
            </a:blip>
            <a:stretch>
              <a:fillRect l="0" t="-467" r="-32674" b="0"/>
            </a:stretch>
          </a:blipFill>
        </p:spPr>
      </p:sp>
      <p:sp>
        <p:nvSpPr>
          <p:cNvPr name="Freeform 11" id="11"/>
          <p:cNvSpPr/>
          <p:nvPr/>
        </p:nvSpPr>
        <p:spPr>
          <a:xfrm flipH="false" flipV="false" rot="0">
            <a:off x="8440079" y="7504557"/>
            <a:ext cx="8653006" cy="1492644"/>
          </a:xfrm>
          <a:custGeom>
            <a:avLst/>
            <a:gdLst/>
            <a:ahLst/>
            <a:cxnLst/>
            <a:rect r="r" b="b" t="t" l="l"/>
            <a:pathLst>
              <a:path h="1492644" w="8653006">
                <a:moveTo>
                  <a:pt x="0" y="0"/>
                </a:moveTo>
                <a:lnTo>
                  <a:pt x="8653006" y="0"/>
                </a:lnTo>
                <a:lnTo>
                  <a:pt x="8653006" y="1492643"/>
                </a:lnTo>
                <a:lnTo>
                  <a:pt x="0" y="149264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907433" y="3666699"/>
            <a:ext cx="6593193" cy="4392715"/>
          </a:xfrm>
          <a:custGeom>
            <a:avLst/>
            <a:gdLst/>
            <a:ahLst/>
            <a:cxnLst/>
            <a:rect r="r" b="b" t="t" l="l"/>
            <a:pathLst>
              <a:path h="4392715" w="6593193">
                <a:moveTo>
                  <a:pt x="0" y="0"/>
                </a:moveTo>
                <a:lnTo>
                  <a:pt x="6593193" y="0"/>
                </a:lnTo>
                <a:lnTo>
                  <a:pt x="6593193" y="4392716"/>
                </a:lnTo>
                <a:lnTo>
                  <a:pt x="0" y="4392716"/>
                </a:lnTo>
                <a:lnTo>
                  <a:pt x="0" y="0"/>
                </a:lnTo>
                <a:close/>
              </a:path>
            </a:pathLst>
          </a:custGeom>
          <a:blipFill>
            <a:blip r:embed="rId14"/>
            <a:stretch>
              <a:fillRect l="0" t="0" r="0" b="0"/>
            </a:stretch>
          </a:blipFill>
        </p:spPr>
      </p:sp>
      <p:sp>
        <p:nvSpPr>
          <p:cNvPr name="Freeform 13" id="13"/>
          <p:cNvSpPr/>
          <p:nvPr/>
        </p:nvSpPr>
        <p:spPr>
          <a:xfrm flipH="false" flipV="false" rot="0">
            <a:off x="8440079" y="3656943"/>
            <a:ext cx="8819221" cy="4593935"/>
          </a:xfrm>
          <a:custGeom>
            <a:avLst/>
            <a:gdLst/>
            <a:ahLst/>
            <a:cxnLst/>
            <a:rect r="r" b="b" t="t" l="l"/>
            <a:pathLst>
              <a:path h="4593935" w="8819221">
                <a:moveTo>
                  <a:pt x="0" y="0"/>
                </a:moveTo>
                <a:lnTo>
                  <a:pt x="8819221" y="0"/>
                </a:lnTo>
                <a:lnTo>
                  <a:pt x="8819221" y="4593935"/>
                </a:lnTo>
                <a:lnTo>
                  <a:pt x="0" y="4593935"/>
                </a:lnTo>
                <a:lnTo>
                  <a:pt x="0" y="0"/>
                </a:lnTo>
                <a:close/>
              </a:path>
            </a:pathLst>
          </a:custGeom>
          <a:blipFill>
            <a:blip r:embed="rId15"/>
            <a:stretch>
              <a:fillRect l="0" t="0" r="0" b="0"/>
            </a:stretch>
          </a:blipFill>
        </p:spPr>
      </p:sp>
      <p:sp>
        <p:nvSpPr>
          <p:cNvPr name="TextBox 14" id="14"/>
          <p:cNvSpPr txBox="true"/>
          <p:nvPr/>
        </p:nvSpPr>
        <p:spPr>
          <a:xfrm rot="0">
            <a:off x="1732899" y="1337813"/>
            <a:ext cx="14822202" cy="1895165"/>
          </a:xfrm>
          <a:prstGeom prst="rect">
            <a:avLst/>
          </a:prstGeom>
        </p:spPr>
        <p:txBody>
          <a:bodyPr anchor="t" rtlCol="false" tIns="0" lIns="0" bIns="0" rIns="0">
            <a:spAutoFit/>
          </a:bodyPr>
          <a:lstStyle/>
          <a:p>
            <a:pPr algn="ctr">
              <a:lnSpc>
                <a:spcPts val="15061"/>
              </a:lnSpc>
            </a:pPr>
            <a:r>
              <a:rPr lang="en-US" b="true" sz="12048">
                <a:solidFill>
                  <a:srgbClr val="FFFFFF"/>
                </a:solidFill>
                <a:latin typeface="Proxima Nova Heavy"/>
                <a:ea typeface="Proxima Nova Heavy"/>
                <a:cs typeface="Proxima Nova Heavy"/>
                <a:sym typeface="Proxima Nova Heavy"/>
              </a:rPr>
              <a:t>TRIMAKASIH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DAHLeFpSPjU</dc:identifier>
  <dcterms:modified xsi:type="dcterms:W3CDTF">2011-08-01T06:04:30Z</dcterms:modified>
  <cp:revision>1</cp:revision>
  <dc:title>distribusi data analisis</dc:title>
</cp:coreProperties>
</file>