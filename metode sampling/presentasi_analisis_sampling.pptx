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square">
            <a:spAutoFit/>
          </a:bodyPr>
          <a:lstStyle/>
          <a:p>
            <a:pPr algn="l"/>
            <a:r>
              <a:rPr sz="3600" b="1" i="0">
                <a:solidFill>
                  <a:srgbClr val="FFFFFF"/>
                </a:solidFill>
                <a:latin typeface="Calibri"/>
              </a:rPr>
              <a:t>ANALISIS PERBANDINGAN METODE SAMPLING</a:t>
            </a:r>
          </a:p>
          <a:p>
            <a:pPr algn="l">
              <a:spcBef>
                <a:spcPts val="1500"/>
              </a:spcBef>
            </a:pPr>
            <a:r>
              <a:rPr sz="2000" b="0" i="0">
                <a:solidFill>
                  <a:srgbClr val="C8DCF0"/>
                </a:solidFill>
                <a:latin typeface="Calibri"/>
              </a:rPr>
              <a:t>Simple Random Sampling vs Stratified Random Sampling</a:t>
            </a:r>
            <a:br/>
            <a:r>
              <a:t>Pada Data Pendapatan Harian E-Commerce</a:t>
            </a:r>
          </a:p>
          <a:p>
            <a:br/>
            <a:pPr algn="l"/>
            <a:r>
              <a:rPr sz="1400" b="0" i="1">
                <a:solidFill>
                  <a:srgbClr val="AABED2"/>
                </a:solidFill>
                <a:latin typeface="Calibri"/>
              </a:rPr>
              <a:t>Disusun oleh: Tim Kelompok Statistika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Latar Belakang &amp; Pembersihan Data</a:t>
            </a:r>
          </a:p>
        </p:txBody>
      </p:sp>
      <p:sp>
        <p:nvSpPr>
          <p:cNvPr id="3" name="TextBox 2"/>
          <p:cNvSpPr txBox="1"/>
          <p:nvPr/>
        </p:nvSpPr>
        <p:spPr>
          <a:xfrm>
            <a:off x="457200" y="1371600"/>
            <a:ext cx="11277295" cy="4572000"/>
          </a:xfrm>
          <a:prstGeom prst="rect">
            <a:avLst/>
          </a:prstGeom>
          <a:noFill/>
        </p:spPr>
        <p:txBody>
          <a:bodyPr wrap="square">
            <a:spAutoFit/>
          </a:bodyPr>
          <a:lstStyle/>
          <a:p>
            <a:pPr>
              <a:spcAft>
                <a:spcPts val="1200"/>
              </a:spcAft>
            </a:pPr>
            <a:r>
              <a:rPr sz="1600" b="1" i="0">
                <a:solidFill>
                  <a:srgbClr val="0A2540"/>
                </a:solidFill>
                <a:latin typeface="Calibri"/>
              </a:rPr>
              <a:t>•  Sumber Data Utama: </a:t>
            </a:r>
            <a:r>
              <a:rPr sz="1600" b="0" i="0">
                <a:solidFill>
                  <a:srgbClr val="505050"/>
                </a:solidFill>
                <a:latin typeface="Calibri"/>
              </a:rPr>
              <a:t>Dataset transaksi Online Retail (Desember 2010 - Desember 2011) yang diagregasikan berdasarkan tanggal operasional harian.</a:t>
            </a:r>
          </a:p>
          <a:p>
            <a:pPr>
              <a:spcAft>
                <a:spcPts val="1200"/>
              </a:spcAft>
            </a:pPr>
            <a:r>
              <a:rPr sz="1600" b="1" i="0">
                <a:solidFill>
                  <a:srgbClr val="0A2540"/>
                </a:solidFill>
                <a:latin typeface="Calibri"/>
              </a:rPr>
              <a:t>•  Pembersihan Data Konsisten: </a:t>
            </a:r>
            <a:r>
              <a:rPr sz="1600" b="0" i="0">
                <a:solidFill>
                  <a:srgbClr val="505050"/>
                </a:solidFill>
                <a:latin typeface="Calibri"/>
              </a:rPr>
              <a:t>Seluruh baris transaksi bernilai negatif (refund/pembatalan) dihapus (filter Total Harga &gt; 0) untuk menghindari bias rata-rata dan penyimpangan data.</a:t>
            </a:r>
          </a:p>
          <a:p>
            <a:pPr>
              <a:spcAft>
                <a:spcPts val="1200"/>
              </a:spcAft>
            </a:pPr>
            <a:r>
              <a:rPr sz="1600" b="1" i="0">
                <a:solidFill>
                  <a:srgbClr val="0A2540"/>
                </a:solidFill>
                <a:latin typeface="Calibri"/>
              </a:rPr>
              <a:t>•  Populasi Bersih (N): </a:t>
            </a:r>
            <a:r>
              <a:rPr sz="1600" b="0" i="0">
                <a:solidFill>
                  <a:srgbClr val="505050"/>
                </a:solidFill>
                <a:latin typeface="Calibri"/>
              </a:rPr>
              <a:t>Menghasilkan total N = 304 hari operasional aktif yang siap dianalisis secara statistik.</a:t>
            </a:r>
          </a:p>
          <a:p>
            <a:pPr>
              <a:spcAft>
                <a:spcPts val="1200"/>
              </a:spcAft>
            </a:pPr>
            <a:r>
              <a:rPr sz="1600" b="1" i="0">
                <a:solidFill>
                  <a:srgbClr val="0A2540"/>
                </a:solidFill>
                <a:latin typeface="Calibri"/>
              </a:rPr>
              <a:t>•  Penggabungan Rentang Tahun: </a:t>
            </a:r>
            <a:r>
              <a:rPr sz="1600" b="0" i="0">
                <a:solidFill>
                  <a:srgbClr val="505050"/>
                </a:solidFill>
                <a:latin typeface="Calibri"/>
              </a:rPr>
              <a:t>Data tahun 2010 dan 2011 langsung digabungkan untuk mendapatkan jumlah hari per kategori secara riil tanpa sekat tahun.</a:t>
            </a:r>
          </a:p>
          <a:p>
            <a:pPr>
              <a:spcAft>
                <a:spcPts val="1200"/>
              </a:spcAft>
            </a:pPr>
            <a:r>
              <a:rPr sz="1600" b="1" i="0">
                <a:solidFill>
                  <a:srgbClr val="0A2540"/>
                </a:solidFill>
                <a:latin typeface="Calibri"/>
              </a:rPr>
              <a:t>•  Ekstraksi Kategori Hari: </a:t>
            </a:r>
            <a:r>
              <a:rPr sz="1600" b="0" i="0">
                <a:solidFill>
                  <a:srgbClr val="505050"/>
                </a:solidFill>
                <a:latin typeface="Calibri"/>
              </a:rPr>
              <a:t>Kolom nama hari (Senin, Selasa, Rabu, Kamis, Jumat, Minggu) diekstrak secara otomatis dari kolom tanggal asli.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Metodologi Penarikan Sampel (Proporsi 20%)</a:t>
            </a:r>
          </a:p>
        </p:txBody>
      </p:sp>
      <p:sp>
        <p:nvSpPr>
          <p:cNvPr id="3" name="TextBox 2"/>
          <p:cNvSpPr txBox="1"/>
          <p:nvPr/>
        </p:nvSpPr>
        <p:spPr>
          <a:xfrm>
            <a:off x="457200" y="1371600"/>
            <a:ext cx="5303520" cy="4572000"/>
          </a:xfrm>
          <a:prstGeom prst="rect">
            <a:avLst/>
          </a:prstGeom>
          <a:noFill/>
        </p:spPr>
        <p:txBody>
          <a:bodyPr wrap="square">
            <a:spAutoFit/>
          </a:bodyPr>
          <a:lstStyle/>
          <a:p>
            <a:pPr>
              <a:spcAft>
                <a:spcPts val="1000"/>
              </a:spcAft>
            </a:pPr>
            <a:r>
              <a:rPr sz="2000" b="1" i="0">
                <a:solidFill>
                  <a:srgbClr val="C00000"/>
                </a:solidFill>
                <a:latin typeface="Calibri"/>
              </a:rPr>
              <a:t>1. Simple Random Sampling (SRS)</a:t>
            </a:r>
          </a:p>
          <a:p>
            <a:pPr>
              <a:spcAft>
                <a:spcPts val="800"/>
              </a:spcAft>
            </a:pPr>
            <a:r>
              <a:rPr sz="1500" b="0" i="0">
                <a:solidFill>
                  <a:srgbClr val="505050"/>
                </a:solidFill>
                <a:latin typeface="Calibri"/>
              </a:rPr>
              <a:t>• Sampel ditarik secara acak penuh dari keseluruhan 304 populasi tanpa mempertimbangkan kategori hari.</a:t>
            </a:r>
          </a:p>
          <a:p>
            <a:pPr>
              <a:spcAft>
                <a:spcPts val="800"/>
              </a:spcAft>
            </a:pPr>
            <a:r>
              <a:rPr sz="1500" b="0" i="0">
                <a:solidFill>
                  <a:srgbClr val="505050"/>
                </a:solidFill>
                <a:latin typeface="Calibri"/>
              </a:rPr>
              <a:t>• Jumlah sampel yang terambil: n = 61 hari operasional.</a:t>
            </a:r>
          </a:p>
          <a:p>
            <a:pPr>
              <a:spcAft>
                <a:spcPts val="800"/>
              </a:spcAft>
            </a:pPr>
            <a:r>
              <a:rPr sz="1500" b="0" i="0">
                <a:solidFill>
                  <a:srgbClr val="505050"/>
                </a:solidFill>
                <a:latin typeface="Calibri"/>
              </a:rPr>
              <a:t>• Setiap tanggal memiliki peluang terpilih yang sama.</a:t>
            </a:r>
          </a:p>
          <a:p>
            <a:pPr>
              <a:spcAft>
                <a:spcPts val="800"/>
              </a:spcAft>
            </a:pPr>
            <a:r>
              <a:rPr sz="1500" b="0" i="0">
                <a:solidFill>
                  <a:srgbClr val="505050"/>
                </a:solidFill>
                <a:latin typeface="Calibri"/>
              </a:rPr>
              <a:t>• Kelemahan: Berisiko melewatkan kelompok hari tertentu atau nilai ekstrem (outlier) karena murni acak.</a:t>
            </a:r>
          </a:p>
        </p:txBody>
      </p:sp>
      <p:sp>
        <p:nvSpPr>
          <p:cNvPr id="4" name="TextBox 3"/>
          <p:cNvSpPr txBox="1"/>
          <p:nvPr/>
        </p:nvSpPr>
        <p:spPr>
          <a:xfrm>
            <a:off x="6400800" y="1371600"/>
            <a:ext cx="5303520" cy="4572000"/>
          </a:xfrm>
          <a:prstGeom prst="rect">
            <a:avLst/>
          </a:prstGeom>
          <a:noFill/>
        </p:spPr>
        <p:txBody>
          <a:bodyPr wrap="square">
            <a:spAutoFit/>
          </a:bodyPr>
          <a:lstStyle/>
          <a:p>
            <a:pPr>
              <a:spcAft>
                <a:spcPts val="1000"/>
              </a:spcAft>
            </a:pPr>
            <a:r>
              <a:rPr sz="2000" b="1" i="0">
                <a:solidFill>
                  <a:srgbClr val="2E7559"/>
                </a:solidFill>
                <a:latin typeface="Calibri"/>
              </a:rPr>
              <a:t>2. Stratified Random Sampling</a:t>
            </a:r>
          </a:p>
          <a:p>
            <a:pPr>
              <a:spcAft>
                <a:spcPts val="800"/>
              </a:spcAft>
            </a:pPr>
            <a:r>
              <a:rPr sz="1500" b="0" i="0">
                <a:solidFill>
                  <a:srgbClr val="505050"/>
                </a:solidFill>
                <a:latin typeface="Calibri"/>
              </a:rPr>
              <a:t>• Populasi dibagi menjadi 6 strata berdasarkan nama hari (Senin - Minggu).</a:t>
            </a:r>
          </a:p>
          <a:p>
            <a:pPr>
              <a:spcAft>
                <a:spcPts val="800"/>
              </a:spcAft>
            </a:pPr>
            <a:r>
              <a:rPr sz="1500" b="0" i="0">
                <a:solidFill>
                  <a:srgbClr val="505050"/>
                </a:solidFill>
                <a:latin typeface="Calibri"/>
              </a:rPr>
              <a:t>• Sampel diambil tepat 20% secara acak dari masing-masing strata hari.</a:t>
            </a:r>
          </a:p>
          <a:p>
            <a:pPr>
              <a:spcAft>
                <a:spcPts val="800"/>
              </a:spcAft>
            </a:pPr>
            <a:r>
              <a:rPr sz="1500" b="0" i="0">
                <a:solidFill>
                  <a:srgbClr val="505050"/>
                </a:solidFill>
                <a:latin typeface="Calibri"/>
              </a:rPr>
              <a:t>• Jumlah sampel yang terambil: n = 60 hari operasional.</a:t>
            </a:r>
          </a:p>
          <a:p>
            <a:pPr>
              <a:spcAft>
                <a:spcPts val="800"/>
              </a:spcAft>
            </a:pPr>
            <a:r>
              <a:rPr sz="1500" b="0" i="0">
                <a:solidFill>
                  <a:srgbClr val="505050"/>
                </a:solidFill>
                <a:latin typeface="Calibri"/>
              </a:rPr>
              <a:t>• Kelebihan: Menjamin seluruh hari terwakili secara adil dan proporsional sesuai struktur populasi aslinya.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Tabel Perbandingan Parameter &amp; Statistik Utama</a:t>
            </a:r>
          </a:p>
        </p:txBody>
      </p:sp>
      <p:graphicFrame>
        <p:nvGraphicFramePr>
          <p:cNvPr id="3" name="Table 2"/>
          <p:cNvGraphicFramePr>
            <a:graphicFrameLocks noGrp="1"/>
          </p:cNvGraphicFramePr>
          <p:nvPr/>
        </p:nvGraphicFramePr>
        <p:xfrm>
          <a:off x="457200" y="1371600"/>
          <a:ext cx="11277295" cy="4114800"/>
        </p:xfrm>
        <a:graphic>
          <a:graphicData uri="http://schemas.openxmlformats.org/drawingml/2006/table">
            <a:tbl>
              <a:tblPr firstRow="1" bandRow="1">
                <a:tableStyleId>{5C22544A-7EE6-4342-B048-85BDC9FD1C3A}</a:tableStyleId>
              </a:tblPr>
              <a:tblGrid>
                <a:gridCol w="2819323"/>
                <a:gridCol w="2819323"/>
                <a:gridCol w="2819323"/>
                <a:gridCol w="2819326"/>
              </a:tblGrid>
              <a:tr h="587828">
                <a:tc>
                  <a:txBody>
                    <a:bodyPr/>
                    <a:lstStyle/>
                    <a:p>
                      <a:r>
                        <a:rPr sz="1500" b="1" i="0">
                          <a:solidFill>
                            <a:srgbClr val="FFFFFF"/>
                          </a:solidFill>
                          <a:latin typeface="Calibri"/>
                        </a:rPr>
                        <a:t>Parameter Statistik</a:t>
                      </a:r>
                    </a:p>
                  </a:txBody>
                  <a:tcPr>
                    <a:solidFill>
                      <a:srgbClr val="0A2540"/>
                    </a:solidFill>
                  </a:tcPr>
                </a:tc>
                <a:tc>
                  <a:txBody>
                    <a:bodyPr/>
                    <a:lstStyle/>
                    <a:p>
                      <a:r>
                        <a:rPr sz="1500" b="1" i="0">
                          <a:solidFill>
                            <a:srgbClr val="FFFFFF"/>
                          </a:solidFill>
                          <a:latin typeface="Calibri"/>
                        </a:rPr>
                        <a:t>Data Populasi</a:t>
                      </a:r>
                    </a:p>
                  </a:txBody>
                  <a:tcPr>
                    <a:solidFill>
                      <a:srgbClr val="0A2540"/>
                    </a:solidFill>
                  </a:tcPr>
                </a:tc>
                <a:tc>
                  <a:txBody>
                    <a:bodyPr/>
                    <a:lstStyle/>
                    <a:p>
                      <a:r>
                        <a:rPr sz="1500" b="1" i="0">
                          <a:solidFill>
                            <a:srgbClr val="FFFFFF"/>
                          </a:solidFill>
                          <a:latin typeface="Calibri"/>
                        </a:rPr>
                        <a:t>Sampel Simple Random (SRS)</a:t>
                      </a:r>
                    </a:p>
                  </a:txBody>
                  <a:tcPr>
                    <a:solidFill>
                      <a:srgbClr val="0A2540"/>
                    </a:solidFill>
                  </a:tcPr>
                </a:tc>
                <a:tc>
                  <a:txBody>
                    <a:bodyPr/>
                    <a:lstStyle/>
                    <a:p>
                      <a:r>
                        <a:rPr sz="1500" b="1" i="0">
                          <a:solidFill>
                            <a:srgbClr val="FFFFFF"/>
                          </a:solidFill>
                          <a:latin typeface="Calibri"/>
                        </a:rPr>
                        <a:t>Sampel Stratified</a:t>
                      </a:r>
                    </a:p>
                  </a:txBody>
                  <a:tcPr>
                    <a:solidFill>
                      <a:srgbClr val="0A2540"/>
                    </a:solidFill>
                  </a:tcPr>
                </a:tc>
              </a:tr>
              <a:tr h="587828">
                <a:tc>
                  <a:txBody>
                    <a:bodyPr/>
                    <a:lstStyle/>
                    <a:p>
                      <a:r>
                        <a:rPr sz="1400" b="0" i="0">
                          <a:solidFill>
                            <a:srgbClr val="0A2540"/>
                          </a:solidFill>
                          <a:latin typeface="Calibri"/>
                        </a:rPr>
                        <a:t>Ukuran Data (N atau n)</a:t>
                      </a:r>
                    </a:p>
                  </a:txBody>
                  <a:tcPr/>
                </a:tc>
                <a:tc>
                  <a:txBody>
                    <a:bodyPr/>
                    <a:lstStyle/>
                    <a:p>
                      <a:r>
                        <a:rPr sz="1400" b="0" i="0">
                          <a:solidFill>
                            <a:srgbClr val="505050"/>
                          </a:solidFill>
                          <a:latin typeface="Calibri"/>
                        </a:rPr>
                        <a:t>N = 304</a:t>
                      </a:r>
                    </a:p>
                  </a:txBody>
                  <a:tcPr/>
                </a:tc>
                <a:tc>
                  <a:txBody>
                    <a:bodyPr/>
                    <a:lstStyle/>
                    <a:p>
                      <a:r>
                        <a:rPr sz="1400" b="0" i="0">
                          <a:solidFill>
                            <a:srgbClr val="505050"/>
                          </a:solidFill>
                          <a:latin typeface="Calibri"/>
                        </a:rPr>
                        <a:t>n = 61</a:t>
                      </a:r>
                    </a:p>
                  </a:txBody>
                  <a:tcPr/>
                </a:tc>
                <a:tc>
                  <a:txBody>
                    <a:bodyPr/>
                    <a:lstStyle/>
                    <a:p>
                      <a:r>
                        <a:rPr sz="1400" b="0" i="0">
                          <a:solidFill>
                            <a:srgbClr val="505050"/>
                          </a:solidFill>
                          <a:latin typeface="Calibri"/>
                        </a:rPr>
                        <a:t>n = 60</a:t>
                      </a:r>
                    </a:p>
                  </a:txBody>
                  <a:tcPr/>
                </a:tc>
              </a:tr>
              <a:tr h="587828">
                <a:tc>
                  <a:txBody>
                    <a:bodyPr/>
                    <a:lstStyle/>
                    <a:p>
                      <a:r>
                        <a:rPr sz="1400" b="0" i="0">
                          <a:solidFill>
                            <a:srgbClr val="0A2540"/>
                          </a:solidFill>
                          <a:latin typeface="Calibri"/>
                        </a:rPr>
                        <a:t>Rata-rata (Mean)</a:t>
                      </a:r>
                    </a:p>
                  </a:txBody>
                  <a:tcPr>
                    <a:solidFill>
                      <a:srgbClr val="F5F5F5"/>
                    </a:solidFill>
                  </a:tcPr>
                </a:tc>
                <a:tc>
                  <a:txBody>
                    <a:bodyPr/>
                    <a:lstStyle/>
                    <a:p>
                      <a:r>
                        <a:rPr sz="1400" b="0" i="0">
                          <a:solidFill>
                            <a:srgbClr val="505050"/>
                          </a:solidFill>
                          <a:latin typeface="Calibri"/>
                        </a:rPr>
                        <a:t>32,070.11</a:t>
                      </a:r>
                    </a:p>
                  </a:txBody>
                  <a:tcPr>
                    <a:solidFill>
                      <a:srgbClr val="F5F5F5"/>
                    </a:solidFill>
                  </a:tcPr>
                </a:tc>
                <a:tc>
                  <a:txBody>
                    <a:bodyPr/>
                    <a:lstStyle/>
                    <a:p>
                      <a:r>
                        <a:rPr sz="1400" b="0" i="0">
                          <a:solidFill>
                            <a:srgbClr val="505050"/>
                          </a:solidFill>
                          <a:latin typeface="Calibri"/>
                        </a:rPr>
                        <a:t>31,318.49</a:t>
                      </a:r>
                    </a:p>
                  </a:txBody>
                  <a:tcPr>
                    <a:solidFill>
                      <a:srgbClr val="F5F5F5"/>
                    </a:solidFill>
                  </a:tcPr>
                </a:tc>
                <a:tc>
                  <a:txBody>
                    <a:bodyPr/>
                    <a:lstStyle/>
                    <a:p>
                      <a:r>
                        <a:rPr sz="1400" b="0" i="0">
                          <a:solidFill>
                            <a:srgbClr val="505050"/>
                          </a:solidFill>
                          <a:latin typeface="Calibri"/>
                        </a:rPr>
                        <a:t>31,456.21</a:t>
                      </a:r>
                    </a:p>
                  </a:txBody>
                  <a:tcPr>
                    <a:solidFill>
                      <a:srgbClr val="F5F5F5"/>
                    </a:solidFill>
                  </a:tcPr>
                </a:tc>
              </a:tr>
              <a:tr h="587828">
                <a:tc>
                  <a:txBody>
                    <a:bodyPr/>
                    <a:lstStyle/>
                    <a:p>
                      <a:r>
                        <a:rPr sz="1400" b="0" i="0">
                          <a:solidFill>
                            <a:srgbClr val="0A2540"/>
                          </a:solidFill>
                          <a:latin typeface="Calibri"/>
                        </a:rPr>
                        <a:t>Standar Deviasi (SD)</a:t>
                      </a:r>
                    </a:p>
                  </a:txBody>
                  <a:tcPr/>
                </a:tc>
                <a:tc>
                  <a:txBody>
                    <a:bodyPr/>
                    <a:lstStyle/>
                    <a:p>
                      <a:r>
                        <a:rPr sz="1400" b="0" i="0">
                          <a:solidFill>
                            <a:srgbClr val="505050"/>
                          </a:solidFill>
                          <a:latin typeface="Calibri"/>
                        </a:rPr>
                        <a:t>17,335.96</a:t>
                      </a:r>
                    </a:p>
                  </a:txBody>
                  <a:tcPr/>
                </a:tc>
                <a:tc>
                  <a:txBody>
                    <a:bodyPr/>
                    <a:lstStyle/>
                    <a:p>
                      <a:r>
                        <a:rPr sz="1400" b="0" i="0">
                          <a:solidFill>
                            <a:srgbClr val="505050"/>
                          </a:solidFill>
                          <a:latin typeface="Calibri"/>
                        </a:rPr>
                        <a:t>16,910.17</a:t>
                      </a:r>
                    </a:p>
                  </a:txBody>
                  <a:tcPr/>
                </a:tc>
                <a:tc>
                  <a:txBody>
                    <a:bodyPr/>
                    <a:lstStyle/>
                    <a:p>
                      <a:r>
                        <a:rPr sz="1400" b="0" i="0">
                          <a:solidFill>
                            <a:srgbClr val="505050"/>
                          </a:solidFill>
                          <a:latin typeface="Calibri"/>
                        </a:rPr>
                        <a:t>19,032.75</a:t>
                      </a:r>
                    </a:p>
                  </a:txBody>
                  <a:tcPr/>
                </a:tc>
              </a:tr>
              <a:tr h="587828">
                <a:tc>
                  <a:txBody>
                    <a:bodyPr/>
                    <a:lstStyle/>
                    <a:p>
                      <a:r>
                        <a:rPr sz="1400" b="0" i="0">
                          <a:solidFill>
                            <a:srgbClr val="0A2540"/>
                          </a:solidFill>
                          <a:latin typeface="Calibri"/>
                        </a:rPr>
                        <a:t>Standard Error (SE)*</a:t>
                      </a:r>
                    </a:p>
                  </a:txBody>
                  <a:tcPr>
                    <a:solidFill>
                      <a:srgbClr val="F5F5F5"/>
                    </a:solidFill>
                  </a:tcPr>
                </a:tc>
                <a:tc>
                  <a:txBody>
                    <a:bodyPr/>
                    <a:lstStyle/>
                    <a:p>
                      <a:r>
                        <a:rPr sz="1400" b="0" i="0">
                          <a:solidFill>
                            <a:srgbClr val="505050"/>
                          </a:solidFill>
                          <a:latin typeface="Calibri"/>
                        </a:rPr>
                        <a:t>-</a:t>
                      </a:r>
                    </a:p>
                  </a:txBody>
                  <a:tcPr>
                    <a:solidFill>
                      <a:srgbClr val="F5F5F5"/>
                    </a:solidFill>
                  </a:tcPr>
                </a:tc>
                <a:tc>
                  <a:txBody>
                    <a:bodyPr/>
                    <a:lstStyle/>
                    <a:p>
                      <a:r>
                        <a:rPr sz="1400" b="0" i="0">
                          <a:solidFill>
                            <a:srgbClr val="505050"/>
                          </a:solidFill>
                          <a:latin typeface="Calibri"/>
                        </a:rPr>
                        <a:t>1,935.75</a:t>
                      </a:r>
                    </a:p>
                  </a:txBody>
                  <a:tcPr>
                    <a:solidFill>
                      <a:srgbClr val="F5F5F5"/>
                    </a:solidFill>
                  </a:tcPr>
                </a:tc>
                <a:tc>
                  <a:txBody>
                    <a:bodyPr/>
                    <a:lstStyle/>
                    <a:p>
                      <a:r>
                        <a:rPr sz="1400" b="0" i="0">
                          <a:solidFill>
                            <a:srgbClr val="505050"/>
                          </a:solidFill>
                          <a:latin typeface="Calibri"/>
                        </a:rPr>
                        <a:t>2,226.79</a:t>
                      </a:r>
                    </a:p>
                  </a:txBody>
                  <a:tcPr>
                    <a:solidFill>
                      <a:srgbClr val="F5F5F5"/>
                    </a:solidFill>
                  </a:tcPr>
                </a:tc>
              </a:tr>
              <a:tr h="587828">
                <a:tc>
                  <a:txBody>
                    <a:bodyPr/>
                    <a:lstStyle/>
                    <a:p>
                      <a:r>
                        <a:rPr sz="1400" b="0" i="0">
                          <a:solidFill>
                            <a:srgbClr val="0A2540"/>
                          </a:solidFill>
                          <a:latin typeface="Calibri"/>
                        </a:rPr>
                        <a:t>Nilai Minimum (Min)</a:t>
                      </a:r>
                    </a:p>
                  </a:txBody>
                  <a:tcPr/>
                </a:tc>
                <a:tc>
                  <a:txBody>
                    <a:bodyPr/>
                    <a:lstStyle/>
                    <a:p>
                      <a:r>
                        <a:rPr sz="1400" b="0" i="0">
                          <a:solidFill>
                            <a:srgbClr val="505050"/>
                          </a:solidFill>
                          <a:latin typeface="Calibri"/>
                        </a:rPr>
                        <a:t>3,457.11</a:t>
                      </a:r>
                    </a:p>
                  </a:txBody>
                  <a:tcPr/>
                </a:tc>
                <a:tc>
                  <a:txBody>
                    <a:bodyPr/>
                    <a:lstStyle/>
                    <a:p>
                      <a:r>
                        <a:rPr sz="1400" b="0" i="0">
                          <a:solidFill>
                            <a:srgbClr val="505050"/>
                          </a:solidFill>
                          <a:latin typeface="Calibri"/>
                        </a:rPr>
                        <a:t>4,137.62</a:t>
                      </a:r>
                    </a:p>
                  </a:txBody>
                  <a:tcPr/>
                </a:tc>
                <a:tc>
                  <a:txBody>
                    <a:bodyPr/>
                    <a:lstStyle/>
                    <a:p>
                      <a:r>
                        <a:rPr sz="1400" b="0" i="0">
                          <a:solidFill>
                            <a:srgbClr val="505050"/>
                          </a:solidFill>
                          <a:latin typeface="Calibri"/>
                        </a:rPr>
                        <a:t>6,134.57</a:t>
                      </a:r>
                    </a:p>
                  </a:txBody>
                  <a:tcPr/>
                </a:tc>
              </a:tr>
              <a:tr h="587832">
                <a:tc>
                  <a:txBody>
                    <a:bodyPr/>
                    <a:lstStyle/>
                    <a:p>
                      <a:r>
                        <a:rPr sz="1400" b="0" i="0">
                          <a:solidFill>
                            <a:srgbClr val="0A2540"/>
                          </a:solidFill>
                          <a:latin typeface="Calibri"/>
                        </a:rPr>
                        <a:t>Nilai Maksimum (Max)</a:t>
                      </a:r>
                    </a:p>
                  </a:txBody>
                  <a:tcPr>
                    <a:solidFill>
                      <a:srgbClr val="F5F5F5"/>
                    </a:solidFill>
                  </a:tcPr>
                </a:tc>
                <a:tc>
                  <a:txBody>
                    <a:bodyPr/>
                    <a:lstStyle/>
                    <a:p>
                      <a:r>
                        <a:rPr sz="1400" b="0" i="0">
                          <a:solidFill>
                            <a:srgbClr val="505050"/>
                          </a:solidFill>
                          <a:latin typeface="Calibri"/>
                        </a:rPr>
                        <a:t>112,141.11</a:t>
                      </a:r>
                    </a:p>
                  </a:txBody>
                  <a:tcPr>
                    <a:solidFill>
                      <a:srgbClr val="F5F5F5"/>
                    </a:solidFill>
                  </a:tcPr>
                </a:tc>
                <a:tc>
                  <a:txBody>
                    <a:bodyPr/>
                    <a:lstStyle/>
                    <a:p>
                      <a:r>
                        <a:rPr sz="1400" b="0" i="0">
                          <a:solidFill>
                            <a:srgbClr val="505050"/>
                          </a:solidFill>
                          <a:latin typeface="Calibri"/>
                        </a:rPr>
                        <a:t>75,244.43</a:t>
                      </a:r>
                    </a:p>
                  </a:txBody>
                  <a:tcPr>
                    <a:solidFill>
                      <a:srgbClr val="F5F5F5"/>
                    </a:solidFill>
                  </a:tcPr>
                </a:tc>
                <a:tc>
                  <a:txBody>
                    <a:bodyPr/>
                    <a:lstStyle/>
                    <a:p>
                      <a:r>
                        <a:rPr sz="1400" b="0" i="0">
                          <a:solidFill>
                            <a:srgbClr val="505050"/>
                          </a:solidFill>
                          <a:latin typeface="Calibri"/>
                        </a:rPr>
                        <a:t>112,141.11</a:t>
                      </a:r>
                    </a:p>
                  </a:txBody>
                  <a:tcPr>
                    <a:solidFill>
                      <a:srgbClr val="F5F5F5"/>
                    </a:solidFill>
                  </a:tcPr>
                </a:tc>
              </a:tr>
            </a:tbl>
          </a:graphicData>
        </a:graphic>
      </p:graphicFrame>
      <p:sp>
        <p:nvSpPr>
          <p:cNvPr id="4" name="TextBox 3"/>
          <p:cNvSpPr txBox="1"/>
          <p:nvPr/>
        </p:nvSpPr>
        <p:spPr>
          <a:xfrm>
            <a:off x="457200" y="5577840"/>
            <a:ext cx="11277295" cy="731520"/>
          </a:xfrm>
          <a:prstGeom prst="rect">
            <a:avLst/>
          </a:prstGeom>
          <a:noFill/>
        </p:spPr>
        <p:txBody>
          <a:bodyPr wrap="square">
            <a:spAutoFit/>
          </a:bodyPr>
          <a:lstStyle/>
          <a:p>
            <a:r>
              <a:rPr sz="1100" b="0" i="1">
                <a:solidFill>
                  <a:srgbClr val="505050"/>
                </a:solidFill>
                <a:latin typeface="Calibri"/>
              </a:rPr>
              <a:t>* Catatan: Nilai Standard Error (SE) telah disesuaikan menggunakan Finite Population Correction (FPC) karena fraksi sampling mencapai 20% (&gt; 5% populasi). SE untuk Stratified dihitung berdasarkan rumus variansi tertimbang gabungan strata.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Perbandingan Parameter per Hari (Stratified)</a:t>
            </a:r>
          </a:p>
        </p:txBody>
      </p:sp>
      <p:graphicFrame>
        <p:nvGraphicFramePr>
          <p:cNvPr id="3" name="Table 2"/>
          <p:cNvGraphicFramePr>
            <a:graphicFrameLocks noGrp="1"/>
          </p:cNvGraphicFramePr>
          <p:nvPr/>
        </p:nvGraphicFramePr>
        <p:xfrm>
          <a:off x="457200" y="1371600"/>
          <a:ext cx="11277295" cy="411480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587828">
                <a:tc>
                  <a:txBody>
                    <a:bodyPr/>
                    <a:lstStyle/>
                    <a:p>
                      <a:r>
                        <a:rPr sz="1400" b="1" i="0">
                          <a:solidFill>
                            <a:srgbClr val="FFFFFF"/>
                          </a:solidFill>
                          <a:latin typeface="Calibri"/>
                        </a:rPr>
                        <a:t>Hari</a:t>
                      </a:r>
                    </a:p>
                  </a:txBody>
                  <a:tcPr>
                    <a:solidFill>
                      <a:srgbClr val="0A2540"/>
                    </a:solidFill>
                  </a:tcPr>
                </a:tc>
                <a:tc>
                  <a:txBody>
                    <a:bodyPr/>
                    <a:lstStyle/>
                    <a:p>
                      <a:r>
                        <a:rPr sz="1400" b="1" i="0">
                          <a:solidFill>
                            <a:srgbClr val="FFFFFF"/>
                          </a:solidFill>
                          <a:latin typeface="Calibri"/>
                        </a:rPr>
                        <a:t>Pop N</a:t>
                      </a:r>
                    </a:p>
                  </a:txBody>
                  <a:tcPr>
                    <a:solidFill>
                      <a:srgbClr val="0A2540"/>
                    </a:solidFill>
                  </a:tcPr>
                </a:tc>
                <a:tc>
                  <a:txBody>
                    <a:bodyPr/>
                    <a:lstStyle/>
                    <a:p>
                      <a:r>
                        <a:rPr sz="1400" b="1" i="0">
                          <a:solidFill>
                            <a:srgbClr val="FFFFFF"/>
                          </a:solidFill>
                          <a:latin typeface="Calibri"/>
                        </a:rPr>
                        <a:t>Samp n</a:t>
                      </a:r>
                    </a:p>
                  </a:txBody>
                  <a:tcPr>
                    <a:solidFill>
                      <a:srgbClr val="0A2540"/>
                    </a:solidFill>
                  </a:tcPr>
                </a:tc>
                <a:tc>
                  <a:txBody>
                    <a:bodyPr/>
                    <a:lstStyle/>
                    <a:p>
                      <a:r>
                        <a:rPr sz="1400" b="1" i="0">
                          <a:solidFill>
                            <a:srgbClr val="FFFFFF"/>
                          </a:solidFill>
                          <a:latin typeface="Calibri"/>
                        </a:rPr>
                        <a:t>Pop Mean</a:t>
                      </a:r>
                    </a:p>
                  </a:txBody>
                  <a:tcPr>
                    <a:solidFill>
                      <a:srgbClr val="0A2540"/>
                    </a:solidFill>
                  </a:tcPr>
                </a:tc>
                <a:tc>
                  <a:txBody>
                    <a:bodyPr/>
                    <a:lstStyle/>
                    <a:p>
                      <a:r>
                        <a:rPr sz="1400" b="1" i="0">
                          <a:solidFill>
                            <a:srgbClr val="FFFFFF"/>
                          </a:solidFill>
                          <a:latin typeface="Calibri"/>
                        </a:rPr>
                        <a:t>Samp Mean</a:t>
                      </a:r>
                    </a:p>
                  </a:txBody>
                  <a:tcPr>
                    <a:solidFill>
                      <a:srgbClr val="0A2540"/>
                    </a:solidFill>
                  </a:tcPr>
                </a:tc>
                <a:tc>
                  <a:txBody>
                    <a:bodyPr/>
                    <a:lstStyle/>
                    <a:p>
                      <a:r>
                        <a:rPr sz="1400" b="1" i="0">
                          <a:solidFill>
                            <a:srgbClr val="FFFFFF"/>
                          </a:solidFill>
                          <a:latin typeface="Calibri"/>
                        </a:rPr>
                        <a:t>Pop SD</a:t>
                      </a:r>
                    </a:p>
                  </a:txBody>
                  <a:tcPr>
                    <a:solidFill>
                      <a:srgbClr val="0A2540"/>
                    </a:solidFill>
                  </a:tcPr>
                </a:tc>
                <a:tc>
                  <a:txBody>
                    <a:bodyPr/>
                    <a:lstStyle/>
                    <a:p>
                      <a:r>
                        <a:rPr sz="1400" b="1" i="0">
                          <a:solidFill>
                            <a:srgbClr val="FFFFFF"/>
                          </a:solidFill>
                          <a:latin typeface="Calibri"/>
                        </a:rPr>
                        <a:t>Samp SD</a:t>
                      </a:r>
                    </a:p>
                  </a:txBody>
                  <a:tcPr>
                    <a:solidFill>
                      <a:srgbClr val="0A2540"/>
                    </a:solidFill>
                  </a:tcPr>
                </a:tc>
              </a:tr>
              <a:tr h="587828">
                <a:tc>
                  <a:txBody>
                    <a:bodyPr/>
                    <a:lstStyle/>
                    <a:p>
                      <a:r>
                        <a:rPr sz="1300" b="1" i="0">
                          <a:solidFill>
                            <a:srgbClr val="0A2540"/>
                          </a:solidFill>
                          <a:latin typeface="Calibri"/>
                        </a:rPr>
                        <a:t>Senin</a:t>
                      </a:r>
                    </a:p>
                  </a:txBody>
                  <a:tcPr/>
                </a:tc>
                <a:tc>
                  <a:txBody>
                    <a:bodyPr/>
                    <a:lstStyle/>
                    <a:p>
                      <a:r>
                        <a:rPr sz="1300" b="0" i="0">
                          <a:solidFill>
                            <a:srgbClr val="505050"/>
                          </a:solidFill>
                          <a:latin typeface="Calibri"/>
                        </a:rPr>
                        <a:t>47</a:t>
                      </a:r>
                    </a:p>
                  </a:txBody>
                  <a:tcPr/>
                </a:tc>
                <a:tc>
                  <a:txBody>
                    <a:bodyPr/>
                    <a:lstStyle/>
                    <a:p>
                      <a:r>
                        <a:rPr sz="1300" b="0" i="0">
                          <a:solidFill>
                            <a:srgbClr val="505050"/>
                          </a:solidFill>
                          <a:latin typeface="Calibri"/>
                        </a:rPr>
                        <a:t>9</a:t>
                      </a:r>
                    </a:p>
                  </a:txBody>
                  <a:tcPr/>
                </a:tc>
                <a:tc>
                  <a:txBody>
                    <a:bodyPr/>
                    <a:lstStyle/>
                    <a:p>
                      <a:r>
                        <a:rPr sz="1300" b="0" i="0">
                          <a:solidFill>
                            <a:srgbClr val="505050"/>
                          </a:solidFill>
                          <a:latin typeface="Calibri"/>
                        </a:rPr>
                        <a:t>33,800.20</a:t>
                      </a:r>
                    </a:p>
                  </a:txBody>
                  <a:tcPr/>
                </a:tc>
                <a:tc>
                  <a:txBody>
                    <a:bodyPr/>
                    <a:lstStyle/>
                    <a:p>
                      <a:r>
                        <a:rPr sz="1300" b="0" i="0">
                          <a:solidFill>
                            <a:srgbClr val="505050"/>
                          </a:solidFill>
                          <a:latin typeface="Calibri"/>
                        </a:rPr>
                        <a:t>37,327.17</a:t>
                      </a:r>
                    </a:p>
                  </a:txBody>
                  <a:tcPr/>
                </a:tc>
                <a:tc>
                  <a:txBody>
                    <a:bodyPr/>
                    <a:lstStyle/>
                    <a:p>
                      <a:r>
                        <a:rPr sz="1300" b="0" i="0">
                          <a:solidFill>
                            <a:srgbClr val="505050"/>
                          </a:solidFill>
                          <a:latin typeface="Calibri"/>
                        </a:rPr>
                        <a:t>17,573.18</a:t>
                      </a:r>
                    </a:p>
                  </a:txBody>
                  <a:tcPr/>
                </a:tc>
                <a:tc>
                  <a:txBody>
                    <a:bodyPr/>
                    <a:lstStyle/>
                    <a:p>
                      <a:r>
                        <a:rPr sz="1300" b="0" i="0">
                          <a:solidFill>
                            <a:srgbClr val="505050"/>
                          </a:solidFill>
                          <a:latin typeface="Calibri"/>
                        </a:rPr>
                        <a:t>29,219.61</a:t>
                      </a:r>
                    </a:p>
                  </a:txBody>
                  <a:tcPr/>
                </a:tc>
              </a:tr>
              <a:tr h="587828">
                <a:tc>
                  <a:txBody>
                    <a:bodyPr/>
                    <a:lstStyle/>
                    <a:p>
                      <a:r>
                        <a:rPr sz="1300" b="1" i="0">
                          <a:solidFill>
                            <a:srgbClr val="0A2540"/>
                          </a:solidFill>
                          <a:latin typeface="Calibri"/>
                        </a:rPr>
                        <a:t>Selasa</a:t>
                      </a:r>
                    </a:p>
                  </a:txBody>
                  <a:tcPr>
                    <a:solidFill>
                      <a:srgbClr val="F5F5F5"/>
                    </a:solidFill>
                  </a:tcPr>
                </a:tc>
                <a:tc>
                  <a:txBody>
                    <a:bodyPr/>
                    <a:lstStyle/>
                    <a:p>
                      <a:r>
                        <a:rPr sz="1300" b="0" i="0">
                          <a:solidFill>
                            <a:srgbClr val="505050"/>
                          </a:solidFill>
                          <a:latin typeface="Calibri"/>
                        </a:rPr>
                        <a:t>52</a:t>
                      </a:r>
                    </a:p>
                  </a:txBody>
                  <a:tcPr>
                    <a:solidFill>
                      <a:srgbClr val="F5F5F5"/>
                    </a:solidFill>
                  </a:tcPr>
                </a:tc>
                <a:tc>
                  <a:txBody>
                    <a:bodyPr/>
                    <a:lstStyle/>
                    <a:p>
                      <a:r>
                        <a:rPr sz="1300" b="0" i="0">
                          <a:solidFill>
                            <a:srgbClr val="505050"/>
                          </a:solidFill>
                          <a:latin typeface="Calibri"/>
                        </a:rPr>
                        <a:t>10</a:t>
                      </a:r>
                    </a:p>
                  </a:txBody>
                  <a:tcPr>
                    <a:solidFill>
                      <a:srgbClr val="F5F5F5"/>
                    </a:solidFill>
                  </a:tcPr>
                </a:tc>
                <a:tc>
                  <a:txBody>
                    <a:bodyPr/>
                    <a:lstStyle/>
                    <a:p>
                      <a:r>
                        <a:rPr sz="1300" b="0" i="0">
                          <a:solidFill>
                            <a:srgbClr val="505050"/>
                          </a:solidFill>
                          <a:latin typeface="Calibri"/>
                        </a:rPr>
                        <a:t>37,811.21</a:t>
                      </a:r>
                    </a:p>
                  </a:txBody>
                  <a:tcPr>
                    <a:solidFill>
                      <a:srgbClr val="F5F5F5"/>
                    </a:solidFill>
                  </a:tcPr>
                </a:tc>
                <a:tc>
                  <a:txBody>
                    <a:bodyPr/>
                    <a:lstStyle/>
                    <a:p>
                      <a:r>
                        <a:rPr sz="1300" b="0" i="0">
                          <a:solidFill>
                            <a:srgbClr val="505050"/>
                          </a:solidFill>
                          <a:latin typeface="Calibri"/>
                        </a:rPr>
                        <a:t>33,851.66</a:t>
                      </a:r>
                    </a:p>
                  </a:txBody>
                  <a:tcPr>
                    <a:solidFill>
                      <a:srgbClr val="F5F5F5"/>
                    </a:solidFill>
                  </a:tcPr>
                </a:tc>
                <a:tc>
                  <a:txBody>
                    <a:bodyPr/>
                    <a:lstStyle/>
                    <a:p>
                      <a:r>
                        <a:rPr sz="1300" b="0" i="0">
                          <a:solidFill>
                            <a:srgbClr val="505050"/>
                          </a:solidFill>
                          <a:latin typeface="Calibri"/>
                        </a:rPr>
                        <a:t>17,836.12</a:t>
                      </a:r>
                    </a:p>
                  </a:txBody>
                  <a:tcPr>
                    <a:solidFill>
                      <a:srgbClr val="F5F5F5"/>
                    </a:solidFill>
                  </a:tcPr>
                </a:tc>
                <a:tc>
                  <a:txBody>
                    <a:bodyPr/>
                    <a:lstStyle/>
                    <a:p>
                      <a:r>
                        <a:rPr sz="1300" b="0" i="0">
                          <a:solidFill>
                            <a:srgbClr val="505050"/>
                          </a:solidFill>
                          <a:latin typeface="Calibri"/>
                        </a:rPr>
                        <a:t>18,028.97</a:t>
                      </a:r>
                    </a:p>
                  </a:txBody>
                  <a:tcPr>
                    <a:solidFill>
                      <a:srgbClr val="F5F5F5"/>
                    </a:solidFill>
                  </a:tcPr>
                </a:tc>
              </a:tr>
              <a:tr h="587828">
                <a:tc>
                  <a:txBody>
                    <a:bodyPr/>
                    <a:lstStyle/>
                    <a:p>
                      <a:r>
                        <a:rPr sz="1300" b="1" i="0">
                          <a:solidFill>
                            <a:srgbClr val="0A2540"/>
                          </a:solidFill>
                          <a:latin typeface="Calibri"/>
                        </a:rPr>
                        <a:t>Rabu</a:t>
                      </a:r>
                    </a:p>
                  </a:txBody>
                  <a:tcPr/>
                </a:tc>
                <a:tc>
                  <a:txBody>
                    <a:bodyPr/>
                    <a:lstStyle/>
                    <a:p>
                      <a:r>
                        <a:rPr sz="1300" b="0" i="0">
                          <a:solidFill>
                            <a:srgbClr val="505050"/>
                          </a:solidFill>
                          <a:latin typeface="Calibri"/>
                        </a:rPr>
                        <a:t>52</a:t>
                      </a:r>
                    </a:p>
                  </a:txBody>
                  <a:tcPr/>
                </a:tc>
                <a:tc>
                  <a:txBody>
                    <a:bodyPr/>
                    <a:lstStyle/>
                    <a:p>
                      <a:r>
                        <a:rPr sz="1300" b="0" i="0">
                          <a:solidFill>
                            <a:srgbClr val="505050"/>
                          </a:solidFill>
                          <a:latin typeface="Calibri"/>
                        </a:rPr>
                        <a:t>10</a:t>
                      </a:r>
                    </a:p>
                  </a:txBody>
                  <a:tcPr/>
                </a:tc>
                <a:tc>
                  <a:txBody>
                    <a:bodyPr/>
                    <a:lstStyle/>
                    <a:p>
                      <a:r>
                        <a:rPr sz="1300" b="0" i="0">
                          <a:solidFill>
                            <a:srgbClr val="505050"/>
                          </a:solidFill>
                          <a:latin typeface="Calibri"/>
                        </a:rPr>
                        <a:t>33,379.10</a:t>
                      </a:r>
                    </a:p>
                  </a:txBody>
                  <a:tcPr/>
                </a:tc>
                <a:tc>
                  <a:txBody>
                    <a:bodyPr/>
                    <a:lstStyle/>
                    <a:p>
                      <a:r>
                        <a:rPr sz="1300" b="0" i="0">
                          <a:solidFill>
                            <a:srgbClr val="505050"/>
                          </a:solidFill>
                          <a:latin typeface="Calibri"/>
                        </a:rPr>
                        <a:t>32,312.10</a:t>
                      </a:r>
                    </a:p>
                  </a:txBody>
                  <a:tcPr/>
                </a:tc>
                <a:tc>
                  <a:txBody>
                    <a:bodyPr/>
                    <a:lstStyle/>
                    <a:p>
                      <a:r>
                        <a:rPr sz="1300" b="0" i="0">
                          <a:solidFill>
                            <a:srgbClr val="505050"/>
                          </a:solidFill>
                          <a:latin typeface="Calibri"/>
                        </a:rPr>
                        <a:t>16,570.84</a:t>
                      </a:r>
                    </a:p>
                  </a:txBody>
                  <a:tcPr/>
                </a:tc>
                <a:tc>
                  <a:txBody>
                    <a:bodyPr/>
                    <a:lstStyle/>
                    <a:p>
                      <a:r>
                        <a:rPr sz="1300" b="0" i="0">
                          <a:solidFill>
                            <a:srgbClr val="505050"/>
                          </a:solidFill>
                          <a:latin typeface="Calibri"/>
                        </a:rPr>
                        <a:t>17,541.98</a:t>
                      </a:r>
                    </a:p>
                  </a:txBody>
                  <a:tcPr/>
                </a:tc>
              </a:tr>
              <a:tr h="587828">
                <a:tc>
                  <a:txBody>
                    <a:bodyPr/>
                    <a:lstStyle/>
                    <a:p>
                      <a:r>
                        <a:rPr sz="1300" b="1" i="0">
                          <a:solidFill>
                            <a:srgbClr val="0A2540"/>
                          </a:solidFill>
                          <a:latin typeface="Calibri"/>
                        </a:rPr>
                        <a:t>Kamis</a:t>
                      </a:r>
                    </a:p>
                  </a:txBody>
                  <a:tcPr>
                    <a:solidFill>
                      <a:srgbClr val="F5F5F5"/>
                    </a:solidFill>
                  </a:tcPr>
                </a:tc>
                <a:tc>
                  <a:txBody>
                    <a:bodyPr/>
                    <a:lstStyle/>
                    <a:p>
                      <a:r>
                        <a:rPr sz="1300" b="0" i="0">
                          <a:solidFill>
                            <a:srgbClr val="505050"/>
                          </a:solidFill>
                          <a:latin typeface="Calibri"/>
                        </a:rPr>
                        <a:t>53</a:t>
                      </a:r>
                    </a:p>
                  </a:txBody>
                  <a:tcPr>
                    <a:solidFill>
                      <a:srgbClr val="F5F5F5"/>
                    </a:solidFill>
                  </a:tcPr>
                </a:tc>
                <a:tc>
                  <a:txBody>
                    <a:bodyPr/>
                    <a:lstStyle/>
                    <a:p>
                      <a:r>
                        <a:rPr sz="1300" b="0" i="0">
                          <a:solidFill>
                            <a:srgbClr val="505050"/>
                          </a:solidFill>
                          <a:latin typeface="Calibri"/>
                        </a:rPr>
                        <a:t>11</a:t>
                      </a:r>
                    </a:p>
                  </a:txBody>
                  <a:tcPr>
                    <a:solidFill>
                      <a:srgbClr val="F5F5F5"/>
                    </a:solidFill>
                  </a:tcPr>
                </a:tc>
                <a:tc>
                  <a:txBody>
                    <a:bodyPr/>
                    <a:lstStyle/>
                    <a:p>
                      <a:r>
                        <a:rPr sz="1300" b="0" i="0">
                          <a:solidFill>
                            <a:srgbClr val="505050"/>
                          </a:solidFill>
                          <a:latin typeface="Calibri"/>
                        </a:rPr>
                        <a:t>39,858.85</a:t>
                      </a:r>
                    </a:p>
                  </a:txBody>
                  <a:tcPr>
                    <a:solidFill>
                      <a:srgbClr val="F5F5F5"/>
                    </a:solidFill>
                  </a:tcPr>
                </a:tc>
                <a:tc>
                  <a:txBody>
                    <a:bodyPr/>
                    <a:lstStyle/>
                    <a:p>
                      <a:r>
                        <a:rPr sz="1300" b="0" i="0">
                          <a:solidFill>
                            <a:srgbClr val="505050"/>
                          </a:solidFill>
                          <a:latin typeface="Calibri"/>
                        </a:rPr>
                        <a:t>36,130.45</a:t>
                      </a:r>
                    </a:p>
                  </a:txBody>
                  <a:tcPr>
                    <a:solidFill>
                      <a:srgbClr val="F5F5F5"/>
                    </a:solidFill>
                  </a:tcPr>
                </a:tc>
                <a:tc>
                  <a:txBody>
                    <a:bodyPr/>
                    <a:lstStyle/>
                    <a:p>
                      <a:r>
                        <a:rPr sz="1300" b="0" i="0">
                          <a:solidFill>
                            <a:srgbClr val="505050"/>
                          </a:solidFill>
                          <a:latin typeface="Calibri"/>
                        </a:rPr>
                        <a:t>16,308.23</a:t>
                      </a:r>
                    </a:p>
                  </a:txBody>
                  <a:tcPr>
                    <a:solidFill>
                      <a:srgbClr val="F5F5F5"/>
                    </a:solidFill>
                  </a:tcPr>
                </a:tc>
                <a:tc>
                  <a:txBody>
                    <a:bodyPr/>
                    <a:lstStyle/>
                    <a:p>
                      <a:r>
                        <a:rPr sz="1300" b="0" i="0">
                          <a:solidFill>
                            <a:srgbClr val="505050"/>
                          </a:solidFill>
                          <a:latin typeface="Calibri"/>
                        </a:rPr>
                        <a:t>17,260.91</a:t>
                      </a:r>
                    </a:p>
                  </a:txBody>
                  <a:tcPr>
                    <a:solidFill>
                      <a:srgbClr val="F5F5F5"/>
                    </a:solidFill>
                  </a:tcPr>
                </a:tc>
              </a:tr>
              <a:tr h="587828">
                <a:tc>
                  <a:txBody>
                    <a:bodyPr/>
                    <a:lstStyle/>
                    <a:p>
                      <a:r>
                        <a:rPr sz="1300" b="1" i="0">
                          <a:solidFill>
                            <a:srgbClr val="0A2540"/>
                          </a:solidFill>
                          <a:latin typeface="Calibri"/>
                        </a:rPr>
                        <a:t>Jumat</a:t>
                      </a:r>
                    </a:p>
                  </a:txBody>
                  <a:tcPr/>
                </a:tc>
                <a:tc>
                  <a:txBody>
                    <a:bodyPr/>
                    <a:lstStyle/>
                    <a:p>
                      <a:r>
                        <a:rPr sz="1300" b="0" i="0">
                          <a:solidFill>
                            <a:srgbClr val="505050"/>
                          </a:solidFill>
                          <a:latin typeface="Calibri"/>
                        </a:rPr>
                        <a:t>50</a:t>
                      </a:r>
                    </a:p>
                  </a:txBody>
                  <a:tcPr/>
                </a:tc>
                <a:tc>
                  <a:txBody>
                    <a:bodyPr/>
                    <a:lstStyle/>
                    <a:p>
                      <a:r>
                        <a:rPr sz="1300" b="0" i="0">
                          <a:solidFill>
                            <a:srgbClr val="505050"/>
                          </a:solidFill>
                          <a:latin typeface="Calibri"/>
                        </a:rPr>
                        <a:t>10</a:t>
                      </a:r>
                    </a:p>
                  </a:txBody>
                  <a:tcPr/>
                </a:tc>
                <a:tc>
                  <a:txBody>
                    <a:bodyPr/>
                    <a:lstStyle/>
                    <a:p>
                      <a:r>
                        <a:rPr sz="1300" b="0" i="0">
                          <a:solidFill>
                            <a:srgbClr val="505050"/>
                          </a:solidFill>
                          <a:latin typeface="Calibri"/>
                        </a:rPr>
                        <a:t>30,812.22</a:t>
                      </a:r>
                    </a:p>
                  </a:txBody>
                  <a:tcPr/>
                </a:tc>
                <a:tc>
                  <a:txBody>
                    <a:bodyPr/>
                    <a:lstStyle/>
                    <a:p>
                      <a:r>
                        <a:rPr sz="1300" b="0" i="0">
                          <a:solidFill>
                            <a:srgbClr val="505050"/>
                          </a:solidFill>
                          <a:latin typeface="Calibri"/>
                        </a:rPr>
                        <a:t>28,169.15</a:t>
                      </a:r>
                    </a:p>
                  </a:txBody>
                  <a:tcPr/>
                </a:tc>
                <a:tc>
                  <a:txBody>
                    <a:bodyPr/>
                    <a:lstStyle/>
                    <a:p>
                      <a:r>
                        <a:rPr sz="1300" b="0" i="0">
                          <a:solidFill>
                            <a:srgbClr val="505050"/>
                          </a:solidFill>
                          <a:latin typeface="Calibri"/>
                        </a:rPr>
                        <a:t>14,061.45</a:t>
                      </a:r>
                    </a:p>
                  </a:txBody>
                  <a:tcPr/>
                </a:tc>
                <a:tc>
                  <a:txBody>
                    <a:bodyPr/>
                    <a:lstStyle/>
                    <a:p>
                      <a:r>
                        <a:rPr sz="1300" b="0" i="0">
                          <a:solidFill>
                            <a:srgbClr val="505050"/>
                          </a:solidFill>
                          <a:latin typeface="Calibri"/>
                        </a:rPr>
                        <a:t>18,169.50</a:t>
                      </a:r>
                    </a:p>
                  </a:txBody>
                  <a:tcPr/>
                </a:tc>
              </a:tr>
              <a:tr h="587832">
                <a:tc>
                  <a:txBody>
                    <a:bodyPr/>
                    <a:lstStyle/>
                    <a:p>
                      <a:r>
                        <a:rPr sz="1300" b="1" i="0">
                          <a:solidFill>
                            <a:srgbClr val="0A2540"/>
                          </a:solidFill>
                          <a:latin typeface="Calibri"/>
                        </a:rPr>
                        <a:t>Minggu</a:t>
                      </a:r>
                    </a:p>
                  </a:txBody>
                  <a:tcPr>
                    <a:solidFill>
                      <a:srgbClr val="F5F5F5"/>
                    </a:solidFill>
                  </a:tcPr>
                </a:tc>
                <a:tc>
                  <a:txBody>
                    <a:bodyPr/>
                    <a:lstStyle/>
                    <a:p>
                      <a:r>
                        <a:rPr sz="1300" b="0" i="0">
                          <a:solidFill>
                            <a:srgbClr val="505050"/>
                          </a:solidFill>
                          <a:latin typeface="Calibri"/>
                        </a:rPr>
                        <a:t>50</a:t>
                      </a:r>
                    </a:p>
                  </a:txBody>
                  <a:tcPr>
                    <a:solidFill>
                      <a:srgbClr val="F5F5F5"/>
                    </a:solidFill>
                  </a:tcPr>
                </a:tc>
                <a:tc>
                  <a:txBody>
                    <a:bodyPr/>
                    <a:lstStyle/>
                    <a:p>
                      <a:r>
                        <a:rPr sz="1300" b="0" i="0">
                          <a:solidFill>
                            <a:srgbClr val="505050"/>
                          </a:solidFill>
                          <a:latin typeface="Calibri"/>
                        </a:rPr>
                        <a:t>10</a:t>
                      </a:r>
                    </a:p>
                  </a:txBody>
                  <a:tcPr>
                    <a:solidFill>
                      <a:srgbClr val="F5F5F5"/>
                    </a:solidFill>
                  </a:tcPr>
                </a:tc>
                <a:tc>
                  <a:txBody>
                    <a:bodyPr/>
                    <a:lstStyle/>
                    <a:p>
                      <a:r>
                        <a:rPr sz="1300" b="0" i="0">
                          <a:solidFill>
                            <a:srgbClr val="505050"/>
                          </a:solidFill>
                          <a:latin typeface="Calibri"/>
                        </a:rPr>
                        <a:t>16,113.58</a:t>
                      </a:r>
                    </a:p>
                  </a:txBody>
                  <a:tcPr>
                    <a:solidFill>
                      <a:srgbClr val="F5F5F5"/>
                    </a:solidFill>
                  </a:tcPr>
                </a:tc>
                <a:tc>
                  <a:txBody>
                    <a:bodyPr/>
                    <a:lstStyle/>
                    <a:p>
                      <a:r>
                        <a:rPr sz="1300" b="0" i="0">
                          <a:solidFill>
                            <a:srgbClr val="505050"/>
                          </a:solidFill>
                          <a:latin typeface="Calibri"/>
                        </a:rPr>
                        <a:t>21,066.42</a:t>
                      </a:r>
                    </a:p>
                  </a:txBody>
                  <a:tcPr>
                    <a:solidFill>
                      <a:srgbClr val="F5F5F5"/>
                    </a:solidFill>
                  </a:tcPr>
                </a:tc>
                <a:tc>
                  <a:txBody>
                    <a:bodyPr/>
                    <a:lstStyle/>
                    <a:p>
                      <a:r>
                        <a:rPr sz="1300" b="0" i="0">
                          <a:solidFill>
                            <a:srgbClr val="505050"/>
                          </a:solidFill>
                          <a:latin typeface="Calibri"/>
                        </a:rPr>
                        <a:t>10,243.06</a:t>
                      </a:r>
                    </a:p>
                  </a:txBody>
                  <a:tcPr>
                    <a:solidFill>
                      <a:srgbClr val="F5F5F5"/>
                    </a:solidFill>
                  </a:tcPr>
                </a:tc>
                <a:tc>
                  <a:txBody>
                    <a:bodyPr/>
                    <a:lstStyle/>
                    <a:p>
                      <a:r>
                        <a:rPr sz="1300" b="0" i="0">
                          <a:solidFill>
                            <a:srgbClr val="505050"/>
                          </a:solidFill>
                          <a:latin typeface="Calibri"/>
                        </a:rPr>
                        <a:t>11,025.08</a:t>
                      </a:r>
                    </a:p>
                  </a:txBody>
                  <a:tcPr>
                    <a:solidFill>
                      <a:srgbClr val="F5F5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Analisis Keterwakilan &amp; Grafik Distribusi (KDE)</a:t>
            </a:r>
          </a:p>
        </p:txBody>
      </p:sp>
      <p:sp>
        <p:nvSpPr>
          <p:cNvPr id="3" name="TextBox 2"/>
          <p:cNvSpPr txBox="1"/>
          <p:nvPr/>
        </p:nvSpPr>
        <p:spPr>
          <a:xfrm>
            <a:off x="457200" y="1371600"/>
            <a:ext cx="11277295" cy="4572000"/>
          </a:xfrm>
          <a:prstGeom prst="rect">
            <a:avLst/>
          </a:prstGeom>
          <a:noFill/>
        </p:spPr>
        <p:txBody>
          <a:bodyPr wrap="square">
            <a:spAutoFit/>
          </a:bodyPr>
          <a:lstStyle/>
          <a:p>
            <a:pPr>
              <a:spcAft>
                <a:spcPts val="1500"/>
              </a:spcAft>
            </a:pPr>
            <a:r>
              <a:rPr sz="1600" b="1" i="0">
                <a:solidFill>
                  <a:srgbClr val="0A2540"/>
                </a:solidFill>
                <a:latin typeface="Calibri"/>
              </a:rPr>
              <a:t>✔  Representasi Rata-rata (Mean): </a:t>
            </a:r>
            <a:r>
              <a:rPr sz="1600" b="0" i="0">
                <a:solidFill>
                  <a:srgbClr val="505050"/>
                </a:solidFill>
                <a:latin typeface="Calibri"/>
              </a:rPr>
              <a:t>Kedua metode sampling sukses memperkirakan rata-rata populasi dengan selisih yang sangat tipis (di bawah 2%). Rata-rata sampel Stratified (31,456.21) sedikit lebih dekat ke populasi dibanding SRS (31,318.49).</a:t>
            </a:r>
          </a:p>
          <a:p>
            <a:pPr>
              <a:spcAft>
                <a:spcPts val="1500"/>
              </a:spcAft>
            </a:pPr>
            <a:r>
              <a:rPr sz="1600" b="1" i="0">
                <a:solidFill>
                  <a:srgbClr val="0A2540"/>
                </a:solidFill>
                <a:latin typeface="Calibri"/>
              </a:rPr>
              <a:t>✔  Penangkapan Data Ekstrem (Outlier): </a:t>
            </a:r>
            <a:r>
              <a:rPr sz="1600" b="0" i="0">
                <a:solidFill>
                  <a:srgbClr val="505050"/>
                </a:solidFill>
                <a:latin typeface="Calibri"/>
              </a:rPr>
              <a:t>Sampel Stratified berhasil menangkap nilai transaksi maksimum populasi (112,141.11). Sebaliknya, sampel SRS melewatkannya (maksimum sampel SRS hanya 75,244.43). Ini membuktikan Stratified lebih unggul dalam menjaga variabilitas sebaran data.</a:t>
            </a:r>
          </a:p>
          <a:p>
            <a:pPr>
              <a:spcAft>
                <a:spcPts val="1500"/>
              </a:spcAft>
            </a:pPr>
            <a:r>
              <a:rPr sz="1600" b="1" i="0">
                <a:solidFill>
                  <a:srgbClr val="0A2540"/>
                </a:solidFill>
                <a:latin typeface="Calibri"/>
              </a:rPr>
              <a:t>✔  Penyimpangan Data (SD): </a:t>
            </a:r>
            <a:r>
              <a:rPr sz="1600" b="0" i="0">
                <a:solidFill>
                  <a:srgbClr val="505050"/>
                </a:solidFill>
                <a:latin typeface="Calibri"/>
              </a:rPr>
              <a:t>SRS menghasilkan SD yang lebih kecil karena hilangnya outlier. Sedangkan Stratified menghasilkan SD yang sedikit lebih besar akibat sensitivitas ukuran sampel yang kecil (n sekitar 10 hari) per kategori strata hari.</a:t>
            </a:r>
          </a:p>
          <a:p>
            <a:pPr>
              <a:spcAft>
                <a:spcPts val="1500"/>
              </a:spcAft>
            </a:pPr>
            <a:r>
              <a:rPr sz="1600" b="1" i="0">
                <a:solidFill>
                  <a:srgbClr val="0A2540"/>
                </a:solidFill>
                <a:latin typeface="Calibri"/>
              </a:rPr>
              <a:t>✔  Bentuk Kurva KDE: </a:t>
            </a:r>
            <a:r>
              <a:rPr sz="1600" b="0" i="0">
                <a:solidFill>
                  <a:srgbClr val="505050"/>
                </a:solidFill>
                <a:latin typeface="Calibri"/>
              </a:rPr>
              <a:t>Grafik KDE membuktikan kurva Stratified (hijau putus-putus) memiliki kelengkungan yang lebih presisi menempel pada kurva populasi asli dibandingkan dengan kurva SRS (merah putus-putus).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r>
              <a:rPr sz="2800" b="1" i="0">
                <a:solidFill>
                  <a:srgbClr val="0A2540"/>
                </a:solidFill>
                <a:latin typeface="Calibri"/>
              </a:rPr>
              <a:t>Rencana Pengujian Hipotesis Kelompok</a:t>
            </a:r>
          </a:p>
        </p:txBody>
      </p:sp>
      <p:sp>
        <p:nvSpPr>
          <p:cNvPr id="3" name="TextBox 2"/>
          <p:cNvSpPr txBox="1"/>
          <p:nvPr/>
        </p:nvSpPr>
        <p:spPr>
          <a:xfrm>
            <a:off x="457200" y="1371600"/>
            <a:ext cx="5303520" cy="4572000"/>
          </a:xfrm>
          <a:prstGeom prst="rect">
            <a:avLst/>
          </a:prstGeom>
          <a:noFill/>
        </p:spPr>
        <p:txBody>
          <a:bodyPr wrap="square">
            <a:spAutoFit/>
          </a:bodyPr>
          <a:lstStyle/>
          <a:p>
            <a:pPr>
              <a:spcAft>
                <a:spcPts val="1000"/>
              </a:spcAft>
            </a:pPr>
            <a:r>
              <a:rPr sz="1800" b="1" i="0">
                <a:solidFill>
                  <a:srgbClr val="0A2540"/>
                </a:solidFill>
                <a:latin typeface="Calibri"/>
              </a:rPr>
              <a:t>1. Uji Keterwakilan (One-Sample t-Test)</a:t>
            </a:r>
          </a:p>
          <a:p>
            <a:pPr>
              <a:spcAft>
                <a:spcPts val="800"/>
              </a:spcAft>
            </a:pPr>
            <a:r>
              <a:rPr sz="1400" b="0" i="0">
                <a:solidFill>
                  <a:srgbClr val="505050"/>
                </a:solidFill>
                <a:latin typeface="Calibri"/>
              </a:rPr>
              <a:t>• Tujuan: Menguji secara formal apakah rata-rata sampel berbeda secara signifikan dengan rata-rata populasi.</a:t>
            </a:r>
          </a:p>
          <a:p>
            <a:pPr>
              <a:spcAft>
                <a:spcPts val="800"/>
              </a:spcAft>
            </a:pPr>
            <a:r>
              <a:rPr sz="1400" b="0" i="0">
                <a:solidFill>
                  <a:srgbClr val="505050"/>
                </a:solidFill>
                <a:latin typeface="Calibri"/>
              </a:rPr>
              <a:t>• Hipotesis Nol (H0): Rata-rata sampel = Rata-rata populasi (Sampel mewakili populasi).</a:t>
            </a:r>
          </a:p>
          <a:p>
            <a:pPr>
              <a:spcAft>
                <a:spcPts val="800"/>
              </a:spcAft>
            </a:pPr>
            <a:r>
              <a:rPr sz="1400" b="0" i="0">
                <a:solidFill>
                  <a:srgbClr val="505050"/>
                </a:solidFill>
                <a:latin typeface="Calibri"/>
              </a:rPr>
              <a:t>• Hipotesis Alternatif (H1): Rata-rata sampel ≠ Rata-rata populasi (Sampel tidak mewakili populasi).</a:t>
            </a:r>
          </a:p>
          <a:p>
            <a:pPr>
              <a:spcAft>
                <a:spcPts val="800"/>
              </a:spcAft>
            </a:pPr>
            <a:r>
              <a:rPr sz="1400" b="0" i="0">
                <a:solidFill>
                  <a:srgbClr val="505050"/>
                </a:solidFill>
                <a:latin typeface="Calibri"/>
              </a:rPr>
              <a:t>• Rumus t-hitung: t = (Rata-rata Sampel - Rata-rata Populasi) / SE_sampel (dengan FPC)</a:t>
            </a:r>
          </a:p>
        </p:txBody>
      </p:sp>
      <p:sp>
        <p:nvSpPr>
          <p:cNvPr id="4" name="TextBox 3"/>
          <p:cNvSpPr txBox="1"/>
          <p:nvPr/>
        </p:nvSpPr>
        <p:spPr>
          <a:xfrm>
            <a:off x="6400800" y="1371600"/>
            <a:ext cx="5303520" cy="4572000"/>
          </a:xfrm>
          <a:prstGeom prst="rect">
            <a:avLst/>
          </a:prstGeom>
          <a:noFill/>
        </p:spPr>
        <p:txBody>
          <a:bodyPr wrap="square">
            <a:spAutoFit/>
          </a:bodyPr>
          <a:lstStyle/>
          <a:p>
            <a:pPr>
              <a:spcAft>
                <a:spcPts val="1000"/>
              </a:spcAft>
            </a:pPr>
            <a:r>
              <a:rPr sz="1800" b="1" i="0">
                <a:solidFill>
                  <a:srgbClr val="0A2540"/>
                </a:solidFill>
                <a:latin typeface="Calibri"/>
              </a:rPr>
              <a:t>2. Uji Beda Kelompok (ANOVA)</a:t>
            </a:r>
          </a:p>
          <a:p>
            <a:pPr>
              <a:spcAft>
                <a:spcPts val="800"/>
              </a:spcAft>
            </a:pPr>
            <a:r>
              <a:rPr sz="1400" b="0" i="0">
                <a:solidFill>
                  <a:srgbClr val="505050"/>
                </a:solidFill>
                <a:latin typeface="Calibri"/>
              </a:rPr>
              <a:t>• Tujuan: Membuktikan apakah ada perbedaan pendapatan harian yang signifikan antar hari dalam seminggu.</a:t>
            </a:r>
          </a:p>
          <a:p>
            <a:pPr>
              <a:spcAft>
                <a:spcPts val="800"/>
              </a:spcAft>
            </a:pPr>
            <a:r>
              <a:rPr sz="1400" b="0" i="0">
                <a:solidFill>
                  <a:srgbClr val="505050"/>
                </a:solidFill>
                <a:latin typeface="Calibri"/>
              </a:rPr>
              <a:t>• Hipotesis Nol (H0): Rata-rata pendapatan Senin = Selasa = Rabu = Kamis = Jumat = Minggu.</a:t>
            </a:r>
          </a:p>
          <a:p>
            <a:pPr>
              <a:spcAft>
                <a:spcPts val="800"/>
              </a:spcAft>
            </a:pPr>
            <a:r>
              <a:rPr sz="1400" b="0" i="0">
                <a:solidFill>
                  <a:srgbClr val="505050"/>
                </a:solidFill>
                <a:latin typeface="Calibri"/>
              </a:rPr>
              <a:t>• Hipotesis Alternatif (H1): Minimal ada satu hari yang memiliki rata-rata pendapatan berbeda secara signifikan.</a:t>
            </a:r>
          </a:p>
          <a:p>
            <a:pPr>
              <a:spcAft>
                <a:spcPts val="800"/>
              </a:spcAft>
            </a:pPr>
            <a:r>
              <a:rPr sz="1400" b="0" i="0">
                <a:solidFill>
                  <a:srgbClr val="505050"/>
                </a:solidFill>
                <a:latin typeface="Calibri"/>
              </a:rPr>
              <a:t>• Analisis dapat dilakukan di Excel menggunakan menu 'Data Analysis -&gt; Anova: Single Factor' atau menggunakan Python scipy.stats.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